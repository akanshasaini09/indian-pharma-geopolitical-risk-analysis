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37B611-F349-4DFB-87B7-DE57A7845E1B}">
  <a:tblStyle styleId="{1337B611-F349-4DFB-87B7-DE57A7845E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409ff9b8ba7_39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g409ff9b8ba7_39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409ff9b8ba7_39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09ff9b8ba7_39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g409ff9b8ba7_39_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409ff9b8ba7_39_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09ff9b8ba7_39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409ff9b8ba7_39_3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409ff9b8ba7_39_3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09ff9b8ba7_8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409ff9b8ba7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09ff9b8ba7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409ff9b8ba7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409ff9b8ba7_39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g409ff9b8ba7_39_7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409ff9b8ba7_39_7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409ff9b8ba7_39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409ff9b8ba7_39_1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409ff9b8ba7_39_1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ba8dbe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ba8dbe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409ff9b8ba7_1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409ff9b8ba7_1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409ff9b8ba7_1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ba8dbe38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g3fba8dbe385_0_1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g3fba8dbe385_0_1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fba9efbf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fba9efbf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609586" y="1434365"/>
            <a:ext cx="8162572" cy="19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A464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C9A464"/>
                </a:solidFill>
                <a:latin typeface="Arial"/>
                <a:ea typeface="Arial"/>
                <a:cs typeface="Arial"/>
                <a:sym typeface="Arial"/>
              </a:rPr>
              <a:t>FINANCIAL RISK MANAGEMENT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16" descr="line"/>
          <p:cNvPicPr preferRelativeResize="0"/>
          <p:nvPr/>
        </p:nvPicPr>
        <p:blipFill rotWithShape="1">
          <a:blip r:embed="rId3">
            <a:alphaModFix/>
          </a:blip>
          <a:srcRect t="-1948" b="-1948"/>
          <a:stretch/>
        </p:blipFill>
        <p:spPr>
          <a:xfrm>
            <a:off x="609587" y="1779105"/>
            <a:ext cx="571500" cy="3463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6"/>
          <p:cNvSpPr/>
          <p:nvPr/>
        </p:nvSpPr>
        <p:spPr>
          <a:xfrm>
            <a:off x="609586" y="1985165"/>
            <a:ext cx="7112794" cy="93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3200"/>
              <a:buFont typeface="Georgia"/>
              <a:buNone/>
            </a:pPr>
            <a:r>
              <a:rPr lang="en" sz="3200" b="0" i="0" u="none" strike="noStrike" cap="non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Geopolitical Risk and the Pharmaceutical Industry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609587" y="3076750"/>
            <a:ext cx="6376988" cy="498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8DCE3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D8DCE3"/>
                </a:solidFill>
                <a:latin typeface="Arial"/>
                <a:ea typeface="Arial"/>
                <a:cs typeface="Arial"/>
                <a:sym typeface="Arial"/>
              </a:rPr>
              <a:t>A case study of the Red Sea shipping disruption and its impact on Indian pharmaceutical companies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609587" y="4678682"/>
            <a:ext cx="978423" cy="17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9AA3B2"/>
                </a:solidFill>
                <a:latin typeface="Arial"/>
                <a:ea typeface="Arial"/>
                <a:cs typeface="Arial"/>
                <a:sym typeface="Arial"/>
              </a:rPr>
              <a:t>Group Assignment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/>
          <p:nvPr/>
        </p:nvSpPr>
        <p:spPr>
          <a:xfrm>
            <a:off x="609586" y="609586"/>
            <a:ext cx="8162572" cy="17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THE GEOPOLITICAL EVENT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609586" y="807731"/>
            <a:ext cx="8162572" cy="35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400"/>
              <a:buFont typeface="Georgia"/>
              <a:buNone/>
            </a:pPr>
            <a:r>
              <a:rPr lang="en" sz="2400">
                <a:solidFill>
                  <a:srgbClr val="13233B"/>
                </a:solidFill>
                <a:latin typeface="Georgia"/>
                <a:ea typeface="Georgia"/>
                <a:cs typeface="Georgia"/>
                <a:sym typeface="Georgia"/>
              </a:rPr>
              <a:t>Red Sea Shipping Disruption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609586" y="1314423"/>
            <a:ext cx="2060258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Asia → Suez Canal → Europe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2705087" y="1351562"/>
            <a:ext cx="3095625" cy="85711"/>
          </a:xfrm>
          <a:prstGeom prst="roundRect">
            <a:avLst>
              <a:gd name="adj" fmla="val 50000"/>
            </a:avLst>
          </a:prstGeom>
          <a:solidFill>
            <a:srgbClr val="1323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5895961" y="1314423"/>
            <a:ext cx="724265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Original route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609586" y="1550654"/>
            <a:ext cx="2060258" cy="339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Asia → Cape of Good Hope → Europe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2705087" y="1667822"/>
            <a:ext cx="4762500" cy="85712"/>
          </a:xfrm>
          <a:prstGeom prst="roundRect">
            <a:avLst>
              <a:gd name="adj" fmla="val 50000"/>
            </a:avLst>
          </a:prstGeom>
          <a:solidFill>
            <a:srgbClr val="C9A46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7562836" y="1550654"/>
            <a:ext cx="1009677" cy="339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Rerouted, longer and slower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611968" y="2044574"/>
            <a:ext cx="3900488" cy="1841924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766262" y="2198867"/>
            <a:ext cx="3699656" cy="2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What Happened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766262" y="2452146"/>
            <a:ext cx="3699656" cy="32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The Red Sea links Asia and Europe via the Suez Canal, a major global shipping route.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766262" y="2827396"/>
            <a:ext cx="3699656" cy="32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Attacks on commercial vessels in November 2023 raised serious security concerns.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766262" y="3202646"/>
            <a:ext cx="3699656" cy="17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Shipping lines began avoiding the Red Sea and Suez Canal route.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766262" y="3423587"/>
            <a:ext cx="3699656" cy="32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Vessels were rerouted via the Cape of Good Hope, adding distance and transit time.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4631477" y="2044574"/>
            <a:ext cx="3900555" cy="1841924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4785771" y="2198867"/>
            <a:ext cx="3699726" cy="20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Why It Matters for Pharma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785771" y="2452146"/>
            <a:ext cx="3699726" cy="17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Higher freight and marine insurance costs on affected shipments.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785771" y="2673088"/>
            <a:ext cx="3699726" cy="17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Longer delivery times and greater supply-chain uncertainty.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785771" y="2894030"/>
            <a:ext cx="3699726" cy="32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Pharma firms depend on steady raw-material imports and timely global delivery.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785771" y="3269280"/>
            <a:ext cx="3699726" cy="32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• A shipping and security issue becomes a real business and financial risk.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09587" y="4678682"/>
            <a:ext cx="101690" cy="17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609586" y="609586"/>
            <a:ext cx="8162572" cy="17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609586" y="807731"/>
            <a:ext cx="8162572" cy="35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400"/>
              <a:buFont typeface="Georgia"/>
              <a:buNone/>
            </a:pPr>
            <a:r>
              <a:rPr lang="en" sz="2400">
                <a:solidFill>
                  <a:srgbClr val="13233B"/>
                </a:solidFill>
                <a:latin typeface="Georgia"/>
                <a:ea typeface="Georgia"/>
                <a:cs typeface="Georgia"/>
                <a:sym typeface="Georgia"/>
              </a:rPr>
              <a:t>Our Approach: From Event to Mitigation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09586" y="1333500"/>
            <a:ext cx="1130282" cy="500874"/>
          </a:xfrm>
          <a:prstGeom prst="roundRect">
            <a:avLst>
              <a:gd name="adj" fmla="val 11410"/>
            </a:avLst>
          </a:prstGeom>
          <a:solidFill>
            <a:srgbClr val="1323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704796" y="1447759"/>
            <a:ext cx="939863" cy="29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000"/>
              <a:buFont typeface="Arial"/>
              <a:buNone/>
            </a:pPr>
            <a:r>
              <a:rPr lang="en" sz="1000" b="1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Geopolitical Event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777955" y="1333500"/>
            <a:ext cx="190513" cy="519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1200"/>
              <a:buFont typeface="Arial"/>
              <a:buNone/>
            </a:pPr>
            <a:r>
              <a:rPr lang="en" sz="1200" b="1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1968455" y="1333500"/>
            <a:ext cx="1130350" cy="500874"/>
          </a:xfrm>
          <a:prstGeom prst="roundRect">
            <a:avLst>
              <a:gd name="adj" fmla="val 11410"/>
            </a:avLst>
          </a:prstGeom>
          <a:solidFill>
            <a:srgbClr val="1323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2063664" y="1447759"/>
            <a:ext cx="939931" cy="29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000"/>
              <a:buFont typeface="Arial"/>
              <a:buNone/>
            </a:pPr>
            <a:r>
              <a:rPr lang="en" sz="1000" b="1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Industry Impact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136891" y="1333500"/>
            <a:ext cx="190514" cy="519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1200"/>
              <a:buFont typeface="Arial"/>
              <a:buNone/>
            </a:pPr>
            <a:r>
              <a:rPr lang="en" sz="1200" b="1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327391" y="1333500"/>
            <a:ext cx="1130282" cy="500874"/>
          </a:xfrm>
          <a:prstGeom prst="roundRect">
            <a:avLst>
              <a:gd name="adj" fmla="val 11410"/>
            </a:avLst>
          </a:prstGeom>
          <a:solidFill>
            <a:srgbClr val="1323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3422600" y="1447759"/>
            <a:ext cx="939863" cy="29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000"/>
              <a:buFont typeface="Arial"/>
              <a:buNone/>
            </a:pPr>
            <a:r>
              <a:rPr lang="en" sz="1000" b="1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Company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495760" y="1333500"/>
            <a:ext cx="190514" cy="519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1200"/>
              <a:buFont typeface="Arial"/>
              <a:buNone/>
            </a:pPr>
            <a:r>
              <a:rPr lang="en" sz="1200" b="1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686260" y="1333500"/>
            <a:ext cx="1130350" cy="500874"/>
          </a:xfrm>
          <a:prstGeom prst="roundRect">
            <a:avLst>
              <a:gd name="adj" fmla="val 11410"/>
            </a:avLst>
          </a:prstGeom>
          <a:solidFill>
            <a:srgbClr val="1323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4781468" y="1447759"/>
            <a:ext cx="939931" cy="29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000"/>
              <a:buFont typeface="Arial"/>
              <a:buNone/>
            </a:pPr>
            <a:r>
              <a:rPr lang="en" sz="1000" b="1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Risk Measurement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854696" y="1333500"/>
            <a:ext cx="190514" cy="519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1200"/>
              <a:buFont typeface="Arial"/>
              <a:buNone/>
            </a:pPr>
            <a:r>
              <a:rPr lang="en" sz="1200" b="1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045196" y="1333500"/>
            <a:ext cx="1130282" cy="500874"/>
          </a:xfrm>
          <a:prstGeom prst="roundRect">
            <a:avLst>
              <a:gd name="adj" fmla="val 11410"/>
            </a:avLst>
          </a:prstGeom>
          <a:solidFill>
            <a:srgbClr val="13233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6262038" y="1515815"/>
            <a:ext cx="696530" cy="15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000"/>
              <a:buFont typeface="Arial"/>
              <a:buNone/>
            </a:pPr>
            <a:r>
              <a:rPr lang="en" sz="1000" b="1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Stress Test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7213564" y="1333500"/>
            <a:ext cx="190513" cy="519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1200"/>
              <a:buFont typeface="Arial"/>
              <a:buNone/>
            </a:pPr>
            <a:r>
              <a:rPr lang="en" sz="1200" b="1">
                <a:solidFill>
                  <a:srgbClr val="8A6D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7404064" y="1333500"/>
            <a:ext cx="1130350" cy="500874"/>
          </a:xfrm>
          <a:prstGeom prst="roundRect">
            <a:avLst>
              <a:gd name="adj" fmla="val 11410"/>
            </a:avLst>
          </a:prstGeom>
          <a:solidFill>
            <a:srgbClr val="C9A46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7657843" y="1515815"/>
            <a:ext cx="622724" cy="155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000"/>
              <a:buFont typeface="Arial"/>
              <a:buNone/>
            </a:pPr>
            <a:r>
              <a:rPr lang="en" sz="10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11968" y="2027255"/>
            <a:ext cx="2560628" cy="727810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728176" y="2143463"/>
            <a:ext cx="2398059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1. Identify the Event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728176" y="2341607"/>
            <a:ext cx="2398059" cy="3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Selected the Red Sea disruption and studied the supply-chain risks it created.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291618" y="2027255"/>
            <a:ext cx="2560696" cy="727810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407826" y="2143463"/>
            <a:ext cx="2398130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2. Industry Impact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407826" y="2341607"/>
            <a:ext cx="2398130" cy="3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Analysed the effect on Indian pharma and shortlisted six companies.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971336" y="2027255"/>
            <a:ext cx="2560696" cy="727810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6087544" y="2143463"/>
            <a:ext cx="2398130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3. Company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087544" y="2341607"/>
            <a:ext cx="2398130" cy="3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Studied stock price, volatility, beta and event study for each company.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11968" y="2874087"/>
            <a:ext cx="2560628" cy="727810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728176" y="2990296"/>
            <a:ext cx="2398059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4. Risk Measurement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28176" y="3188439"/>
            <a:ext cx="2398059" cy="3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Used these metrics to quantify the market impact of the disruption.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291618" y="2874087"/>
            <a:ext cx="2560696" cy="727810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3407826" y="2990296"/>
            <a:ext cx="2398130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5. Stress Test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3407826" y="3188439"/>
            <a:ext cx="2398130" cy="3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Assessed how higher freight and input costs affect financial performance.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971336" y="2874087"/>
            <a:ext cx="2560696" cy="727810"/>
          </a:xfrm>
          <a:prstGeom prst="roundRect">
            <a:avLst>
              <a:gd name="adj" fmla="val 7525"/>
            </a:avLst>
          </a:prstGeom>
          <a:solidFill>
            <a:srgbClr val="FFFFFF"/>
          </a:solidFill>
          <a:ln w="9525" cap="flat" cmpd="sng">
            <a:solidFill>
              <a:srgbClr val="E0DD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6087544" y="2990296"/>
            <a:ext cx="2398130" cy="17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3233B"/>
                </a:solidFill>
                <a:latin typeface="Arial"/>
                <a:ea typeface="Arial"/>
                <a:cs typeface="Arial"/>
                <a:sym typeface="Arial"/>
              </a:rPr>
              <a:t>6. Mitigation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087544" y="3188439"/>
            <a:ext cx="2398130" cy="3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Identified major risks and suggested risk mitigation strategies.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09587" y="4678682"/>
            <a:ext cx="101690" cy="17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lang="en" sz="9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342900" y="150876"/>
            <a:ext cx="8435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Indian Pharma </a:t>
            </a:r>
            <a:r>
              <a:rPr lang="en" sz="1800" b="1">
                <a:solidFill>
                  <a:srgbClr val="0F172A"/>
                </a:solidFill>
              </a:rPr>
              <a:t>Industry—Red</a:t>
            </a:r>
            <a:r>
              <a:rPr lang="en" sz="18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Sea Disruption</a:t>
            </a:r>
            <a:endParaRPr sz="1100"/>
          </a:p>
        </p:txBody>
      </p:sp>
      <p:sp>
        <p:nvSpPr>
          <p:cNvPr id="137" name="Google Shape;137;p19"/>
          <p:cNvSpPr txBox="1"/>
          <p:nvPr/>
        </p:nvSpPr>
        <p:spPr>
          <a:xfrm>
            <a:off x="356616" y="438912"/>
            <a:ext cx="8298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industry effect, risk-factor matrix &amp; relative company exposure</a:t>
            </a:r>
            <a:endParaRPr sz="1100"/>
          </a:p>
        </p:txBody>
      </p:sp>
      <p:sp>
        <p:nvSpPr>
          <p:cNvPr id="138" name="Google Shape;138;p19"/>
          <p:cNvSpPr/>
          <p:nvPr/>
        </p:nvSpPr>
        <p:spPr>
          <a:xfrm>
            <a:off x="342900" y="720090"/>
            <a:ext cx="3429000" cy="15636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54350" y="712350"/>
            <a:ext cx="33831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0" b="1">
                <a:solidFill>
                  <a:srgbClr val="0F172A"/>
                </a:solidFill>
              </a:rPr>
              <a:t>GEOPOLITICAL → FINANCIAL TRANSMISSION</a:t>
            </a:r>
            <a:endParaRPr sz="1150" b="1">
              <a:solidFill>
                <a:srgbClr val="0F172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 b="1">
              <a:solidFill>
                <a:srgbClr val="1E2D5A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0F172A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525151" y="1170638"/>
            <a:ext cx="11661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700" b="1">
                <a:solidFill>
                  <a:srgbClr val="1E293B"/>
                </a:solidFill>
              </a:rPr>
              <a:t>Red Sea attacks</a:t>
            </a:r>
            <a:endParaRPr sz="700" b="1">
              <a:solidFill>
                <a:srgbClr val="1E293B"/>
              </a:solidFill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1392173" y="1303020"/>
            <a:ext cx="1371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42" name="Google Shape;142;p19"/>
          <p:cNvSpPr txBox="1"/>
          <p:nvPr/>
        </p:nvSpPr>
        <p:spPr>
          <a:xfrm>
            <a:off x="534924" y="1412748"/>
            <a:ext cx="9258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Suez disruption</a:t>
            </a:r>
            <a:endParaRPr sz="1100"/>
          </a:p>
        </p:txBody>
      </p:sp>
      <p:sp>
        <p:nvSpPr>
          <p:cNvPr id="143" name="Google Shape;143;p19"/>
          <p:cNvSpPr txBox="1"/>
          <p:nvPr/>
        </p:nvSpPr>
        <p:spPr>
          <a:xfrm>
            <a:off x="1453896" y="1412748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Vessels rerouted via Cape of Good Hope</a:t>
            </a:r>
            <a:endParaRPr sz="1100"/>
          </a:p>
        </p:txBody>
      </p:sp>
      <p:sp>
        <p:nvSpPr>
          <p:cNvPr id="144" name="Google Shape;144;p19"/>
          <p:cNvSpPr txBox="1"/>
          <p:nvPr/>
        </p:nvSpPr>
        <p:spPr>
          <a:xfrm>
            <a:off x="1392173" y="1563624"/>
            <a:ext cx="137100" cy="1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45" name="Google Shape;145;p19"/>
          <p:cNvSpPr txBox="1"/>
          <p:nvPr/>
        </p:nvSpPr>
        <p:spPr>
          <a:xfrm>
            <a:off x="534924" y="1673352"/>
            <a:ext cx="925800" cy="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Economic shock</a:t>
            </a:r>
            <a:endParaRPr sz="1100"/>
          </a:p>
        </p:txBody>
      </p:sp>
      <p:sp>
        <p:nvSpPr>
          <p:cNvPr id="146" name="Google Shape;146;p19"/>
          <p:cNvSpPr txBox="1"/>
          <p:nvPr/>
        </p:nvSpPr>
        <p:spPr>
          <a:xfrm>
            <a:off x="1453896" y="1673352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Transit time ↑ | Freight </a:t>
            </a:r>
            <a:r>
              <a:rPr lang="en" sz="700">
                <a:solidFill>
                  <a:srgbClr val="475569"/>
                </a:solidFill>
              </a:rPr>
              <a:t>cost</a:t>
            </a:r>
            <a:r>
              <a:rPr lang="en" sz="7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sz="1100"/>
          </a:p>
        </p:txBody>
      </p:sp>
      <p:sp>
        <p:nvSpPr>
          <p:cNvPr id="147" name="Google Shape;147;p19"/>
          <p:cNvSpPr txBox="1"/>
          <p:nvPr/>
        </p:nvSpPr>
        <p:spPr>
          <a:xfrm>
            <a:off x="1392173" y="1824228"/>
            <a:ext cx="137160" cy="10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48" name="Google Shape;148;p19"/>
          <p:cNvSpPr txBox="1"/>
          <p:nvPr/>
        </p:nvSpPr>
        <p:spPr>
          <a:xfrm>
            <a:off x="534924" y="1933956"/>
            <a:ext cx="925830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Pharma impact</a:t>
            </a:r>
            <a:endParaRPr sz="1100"/>
          </a:p>
        </p:txBody>
      </p:sp>
      <p:sp>
        <p:nvSpPr>
          <p:cNvPr id="149" name="Google Shape;149;p19"/>
          <p:cNvSpPr txBox="1"/>
          <p:nvPr/>
        </p:nvSpPr>
        <p:spPr>
          <a:xfrm>
            <a:off x="1453896" y="1933956"/>
            <a:ext cx="209169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Inventory / working capital pressure → margins &amp; cash flow</a:t>
            </a:r>
            <a:endParaRPr sz="1100"/>
          </a:p>
        </p:txBody>
      </p:sp>
      <p:sp>
        <p:nvSpPr>
          <p:cNvPr id="150" name="Google Shape;150;p19"/>
          <p:cNvSpPr/>
          <p:nvPr/>
        </p:nvSpPr>
        <p:spPr>
          <a:xfrm>
            <a:off x="514350" y="2414016"/>
            <a:ext cx="3086100" cy="69951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631260" y="2462994"/>
            <a:ext cx="28119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CRISIL INDUSTRY EVIDENCE</a:t>
            </a:r>
            <a:endParaRPr sz="1200"/>
          </a:p>
        </p:txBody>
      </p:sp>
      <p:sp>
        <p:nvSpPr>
          <p:cNvPr id="152" name="Google Shape;152;p19"/>
          <p:cNvSpPr txBox="1"/>
          <p:nvPr/>
        </p:nvSpPr>
        <p:spPr>
          <a:xfrm>
            <a:off x="651510" y="2634120"/>
            <a:ext cx="2777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~50% of industry revenue is export-linked  |  ~2/3 of pharma exports move by sea  |  Impact assessed: MEDIUM</a:t>
            </a:r>
            <a:endParaRPr sz="1200"/>
          </a:p>
        </p:txBody>
      </p:sp>
      <p:sp>
        <p:nvSpPr>
          <p:cNvPr id="153" name="Google Shape;153;p19"/>
          <p:cNvSpPr/>
          <p:nvPr/>
        </p:nvSpPr>
        <p:spPr>
          <a:xfrm>
            <a:off x="3943350" y="720090"/>
            <a:ext cx="4855464" cy="23934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4128516" y="786966"/>
            <a:ext cx="4491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RISK-FACTOR MATRIX</a:t>
            </a:r>
            <a:endParaRPr sz="1100"/>
          </a:p>
        </p:txBody>
      </p:sp>
      <p:sp>
        <p:nvSpPr>
          <p:cNvPr id="155" name="Google Shape;155;p19"/>
          <p:cNvSpPr txBox="1"/>
          <p:nvPr/>
        </p:nvSpPr>
        <p:spPr>
          <a:xfrm>
            <a:off x="4128516" y="1083564"/>
            <a:ext cx="445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Relative exposure of the Indian pharma industry</a:t>
            </a:r>
            <a:endParaRPr sz="1300"/>
          </a:p>
        </p:txBody>
      </p:sp>
      <p:sp>
        <p:nvSpPr>
          <p:cNvPr id="156" name="Google Shape;156;p19"/>
          <p:cNvSpPr txBox="1"/>
          <p:nvPr/>
        </p:nvSpPr>
        <p:spPr>
          <a:xfrm>
            <a:off x="4128516" y="1371600"/>
            <a:ext cx="6858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Risk factor</a:t>
            </a:r>
            <a:endParaRPr sz="1200"/>
          </a:p>
        </p:txBody>
      </p:sp>
      <p:sp>
        <p:nvSpPr>
          <p:cNvPr id="157" name="Google Shape;157;p19"/>
          <p:cNvSpPr txBox="1"/>
          <p:nvPr/>
        </p:nvSpPr>
        <p:spPr>
          <a:xfrm>
            <a:off x="6412230" y="1371600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100"/>
          </a:p>
        </p:txBody>
      </p:sp>
      <p:sp>
        <p:nvSpPr>
          <p:cNvPr id="158" name="Google Shape;158;p19"/>
          <p:cNvSpPr txBox="1"/>
          <p:nvPr/>
        </p:nvSpPr>
        <p:spPr>
          <a:xfrm>
            <a:off x="6960870" y="1371600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 sz="1100"/>
          </a:p>
        </p:txBody>
      </p:sp>
      <p:sp>
        <p:nvSpPr>
          <p:cNvPr id="159" name="Google Shape;159;p19"/>
          <p:cNvSpPr txBox="1"/>
          <p:nvPr/>
        </p:nvSpPr>
        <p:spPr>
          <a:xfrm>
            <a:off x="4128516" y="1556766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Freight cost</a:t>
            </a:r>
            <a:endParaRPr sz="1200"/>
          </a:p>
        </p:txBody>
      </p:sp>
      <p:sp>
        <p:nvSpPr>
          <p:cNvPr id="160" name="Google Shape;160;p19"/>
          <p:cNvSpPr/>
          <p:nvPr/>
        </p:nvSpPr>
        <p:spPr>
          <a:xfrm>
            <a:off x="6391656" y="1543050"/>
            <a:ext cx="514350" cy="15773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6405372" y="1563623"/>
            <a:ext cx="4869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100"/>
          </a:p>
        </p:txBody>
      </p:sp>
      <p:sp>
        <p:nvSpPr>
          <p:cNvPr id="162" name="Google Shape;162;p19"/>
          <p:cNvSpPr txBox="1"/>
          <p:nvPr/>
        </p:nvSpPr>
        <p:spPr>
          <a:xfrm>
            <a:off x="6960870" y="1556766"/>
            <a:ext cx="16803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Rerouting → distance &amp; shipping cost ↑</a:t>
            </a:r>
            <a:endParaRPr sz="1100"/>
          </a:p>
        </p:txBody>
      </p:sp>
      <p:sp>
        <p:nvSpPr>
          <p:cNvPr id="163" name="Google Shape;163;p19"/>
          <p:cNvSpPr txBox="1"/>
          <p:nvPr/>
        </p:nvSpPr>
        <p:spPr>
          <a:xfrm>
            <a:off x="4128516" y="1741932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Transit time</a:t>
            </a:r>
            <a:endParaRPr sz="1200"/>
          </a:p>
        </p:txBody>
      </p:sp>
      <p:sp>
        <p:nvSpPr>
          <p:cNvPr id="164" name="Google Shape;164;p19"/>
          <p:cNvSpPr/>
          <p:nvPr/>
        </p:nvSpPr>
        <p:spPr>
          <a:xfrm>
            <a:off x="6391656" y="1728216"/>
            <a:ext cx="514350" cy="15773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405372" y="1748790"/>
            <a:ext cx="4869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100"/>
          </a:p>
        </p:txBody>
      </p:sp>
      <p:sp>
        <p:nvSpPr>
          <p:cNvPr id="166" name="Google Shape;166;p19"/>
          <p:cNvSpPr txBox="1"/>
          <p:nvPr/>
        </p:nvSpPr>
        <p:spPr>
          <a:xfrm>
            <a:off x="6960870" y="1741932"/>
            <a:ext cx="16803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Cape route → longer delivery cycle</a:t>
            </a:r>
            <a:endParaRPr sz="1100"/>
          </a:p>
        </p:txBody>
      </p:sp>
      <p:sp>
        <p:nvSpPr>
          <p:cNvPr id="167" name="Google Shape;167;p19"/>
          <p:cNvSpPr txBox="1"/>
          <p:nvPr/>
        </p:nvSpPr>
        <p:spPr>
          <a:xfrm>
            <a:off x="4128516" y="1927098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Inventory / working capital</a:t>
            </a:r>
            <a:endParaRPr sz="1200"/>
          </a:p>
        </p:txBody>
      </p:sp>
      <p:sp>
        <p:nvSpPr>
          <p:cNvPr id="168" name="Google Shape;168;p19"/>
          <p:cNvSpPr/>
          <p:nvPr/>
        </p:nvSpPr>
        <p:spPr>
          <a:xfrm>
            <a:off x="6391656" y="1913382"/>
            <a:ext cx="514350" cy="157734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405372" y="1933956"/>
            <a:ext cx="4869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MED-HIGH</a:t>
            </a:r>
            <a:endParaRPr sz="1100"/>
          </a:p>
        </p:txBody>
      </p:sp>
      <p:sp>
        <p:nvSpPr>
          <p:cNvPr id="170" name="Google Shape;170;p19"/>
          <p:cNvSpPr txBox="1"/>
          <p:nvPr/>
        </p:nvSpPr>
        <p:spPr>
          <a:xfrm>
            <a:off x="6960870" y="1927098"/>
            <a:ext cx="16803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Longer transit → buffer stock / cash tied up</a:t>
            </a:r>
            <a:endParaRPr sz="1100"/>
          </a:p>
        </p:txBody>
      </p:sp>
      <p:sp>
        <p:nvSpPr>
          <p:cNvPr id="171" name="Google Shape;171;p19"/>
          <p:cNvSpPr txBox="1"/>
          <p:nvPr/>
        </p:nvSpPr>
        <p:spPr>
          <a:xfrm>
            <a:off x="4128516" y="2112264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Profit margins</a:t>
            </a:r>
            <a:endParaRPr sz="1200"/>
          </a:p>
        </p:txBody>
      </p:sp>
      <p:sp>
        <p:nvSpPr>
          <p:cNvPr id="172" name="Google Shape;172;p19"/>
          <p:cNvSpPr/>
          <p:nvPr/>
        </p:nvSpPr>
        <p:spPr>
          <a:xfrm>
            <a:off x="6391656" y="2098548"/>
            <a:ext cx="514350" cy="157734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405372" y="2119122"/>
            <a:ext cx="4869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MED-HIGH</a:t>
            </a:r>
            <a:endParaRPr sz="1100"/>
          </a:p>
        </p:txBody>
      </p:sp>
      <p:sp>
        <p:nvSpPr>
          <p:cNvPr id="174" name="Google Shape;174;p19"/>
          <p:cNvSpPr txBox="1"/>
          <p:nvPr/>
        </p:nvSpPr>
        <p:spPr>
          <a:xfrm>
            <a:off x="6960870" y="2112264"/>
            <a:ext cx="16803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Logistics cost ↑ → EBITDA pressure</a:t>
            </a:r>
            <a:endParaRPr sz="1100"/>
          </a:p>
        </p:txBody>
      </p:sp>
      <p:sp>
        <p:nvSpPr>
          <p:cNvPr id="175" name="Google Shape;175;p19"/>
          <p:cNvSpPr txBox="1"/>
          <p:nvPr/>
        </p:nvSpPr>
        <p:spPr>
          <a:xfrm>
            <a:off x="4128516" y="2297430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Export revenue</a:t>
            </a:r>
            <a:endParaRPr sz="1200"/>
          </a:p>
        </p:txBody>
      </p:sp>
      <p:sp>
        <p:nvSpPr>
          <p:cNvPr id="176" name="Google Shape;176;p19"/>
          <p:cNvSpPr/>
          <p:nvPr/>
        </p:nvSpPr>
        <p:spPr>
          <a:xfrm>
            <a:off x="6391656" y="2283714"/>
            <a:ext cx="514350" cy="157734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6405372" y="2304288"/>
            <a:ext cx="4869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100"/>
          </a:p>
        </p:txBody>
      </p:sp>
      <p:sp>
        <p:nvSpPr>
          <p:cNvPr id="178" name="Google Shape;178;p19"/>
          <p:cNvSpPr txBox="1"/>
          <p:nvPr/>
        </p:nvSpPr>
        <p:spPr>
          <a:xfrm>
            <a:off x="6960870" y="2297430"/>
            <a:ext cx="16803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Delivery delays / logistics constraints</a:t>
            </a:r>
            <a:endParaRPr sz="1100"/>
          </a:p>
        </p:txBody>
      </p:sp>
      <p:sp>
        <p:nvSpPr>
          <p:cNvPr id="179" name="Google Shape;179;p19"/>
          <p:cNvSpPr txBox="1"/>
          <p:nvPr/>
        </p:nvSpPr>
        <p:spPr>
          <a:xfrm>
            <a:off x="4128516" y="2482596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Supply chain</a:t>
            </a:r>
            <a:endParaRPr sz="1200"/>
          </a:p>
        </p:txBody>
      </p:sp>
      <p:sp>
        <p:nvSpPr>
          <p:cNvPr id="180" name="Google Shape;180;p19"/>
          <p:cNvSpPr/>
          <p:nvPr/>
        </p:nvSpPr>
        <p:spPr>
          <a:xfrm>
            <a:off x="6391656" y="2468880"/>
            <a:ext cx="514350" cy="157734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6405372" y="2489454"/>
            <a:ext cx="4869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100"/>
          </a:p>
        </p:txBody>
      </p:sp>
      <p:sp>
        <p:nvSpPr>
          <p:cNvPr id="182" name="Google Shape;182;p19"/>
          <p:cNvSpPr txBox="1"/>
          <p:nvPr/>
        </p:nvSpPr>
        <p:spPr>
          <a:xfrm>
            <a:off x="6960870" y="2482596"/>
            <a:ext cx="16803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Movement of inputs &amp; finished goods delayed</a:t>
            </a:r>
            <a:endParaRPr sz="1100"/>
          </a:p>
        </p:txBody>
      </p:sp>
      <p:sp>
        <p:nvSpPr>
          <p:cNvPr id="183" name="Google Shape;183;p19"/>
          <p:cNvSpPr txBox="1"/>
          <p:nvPr/>
        </p:nvSpPr>
        <p:spPr>
          <a:xfrm>
            <a:off x="4128516" y="2667762"/>
            <a:ext cx="20916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F2937"/>
                </a:solidFill>
              </a:rPr>
              <a:t>Domestic Demand</a:t>
            </a:r>
            <a:endParaRPr sz="1200"/>
          </a:p>
        </p:txBody>
      </p:sp>
      <p:sp>
        <p:nvSpPr>
          <p:cNvPr id="184" name="Google Shape;184;p19"/>
          <p:cNvSpPr/>
          <p:nvPr/>
        </p:nvSpPr>
        <p:spPr>
          <a:xfrm>
            <a:off x="6391656" y="2677212"/>
            <a:ext cx="514500" cy="1578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405372" y="2687661"/>
            <a:ext cx="4869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100"/>
          </a:p>
        </p:txBody>
      </p:sp>
      <p:sp>
        <p:nvSpPr>
          <p:cNvPr id="186" name="Google Shape;186;p19"/>
          <p:cNvSpPr txBox="1"/>
          <p:nvPr/>
        </p:nvSpPr>
        <p:spPr>
          <a:xfrm>
            <a:off x="6960870" y="2680803"/>
            <a:ext cx="168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Less directly exposed to maritime disruption</a:t>
            </a:r>
            <a:endParaRPr sz="1100"/>
          </a:p>
        </p:txBody>
      </p:sp>
      <p:sp>
        <p:nvSpPr>
          <p:cNvPr id="187" name="Google Shape;187;p19"/>
          <p:cNvSpPr/>
          <p:nvPr/>
        </p:nvSpPr>
        <p:spPr>
          <a:xfrm>
            <a:off x="342900" y="3278124"/>
            <a:ext cx="8455914" cy="118643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14350" y="3429000"/>
            <a:ext cx="809244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COMPANY-WISE RELATIVE EXPOSURE</a:t>
            </a:r>
            <a:endParaRPr sz="1100"/>
          </a:p>
        </p:txBody>
      </p:sp>
      <p:sp>
        <p:nvSpPr>
          <p:cNvPr id="189" name="Google Shape;189;p19"/>
          <p:cNvSpPr/>
          <p:nvPr/>
        </p:nvSpPr>
        <p:spPr>
          <a:xfrm>
            <a:off x="514350" y="3717036"/>
            <a:ext cx="1405889" cy="2331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569214" y="3765042"/>
            <a:ext cx="1289304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Cipla</a:t>
            </a:r>
            <a:endParaRPr sz="1100"/>
          </a:p>
        </p:txBody>
      </p:sp>
      <p:sp>
        <p:nvSpPr>
          <p:cNvPr id="191" name="Google Shape;191;p19"/>
          <p:cNvSpPr/>
          <p:nvPr/>
        </p:nvSpPr>
        <p:spPr>
          <a:xfrm>
            <a:off x="1968246" y="3717036"/>
            <a:ext cx="651510" cy="23317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988820" y="3765042"/>
            <a:ext cx="610362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Relatively Lower</a:t>
            </a:r>
            <a:endParaRPr sz="1100"/>
          </a:p>
        </p:txBody>
      </p:sp>
      <p:sp>
        <p:nvSpPr>
          <p:cNvPr id="193" name="Google Shape;193;p19"/>
          <p:cNvSpPr/>
          <p:nvPr/>
        </p:nvSpPr>
        <p:spPr>
          <a:xfrm>
            <a:off x="3257550" y="3717036"/>
            <a:ext cx="1405889" cy="2331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3312414" y="3765042"/>
            <a:ext cx="1289304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Sun Pharma</a:t>
            </a:r>
            <a:endParaRPr sz="1100"/>
          </a:p>
        </p:txBody>
      </p:sp>
      <p:sp>
        <p:nvSpPr>
          <p:cNvPr id="195" name="Google Shape;195;p19"/>
          <p:cNvSpPr/>
          <p:nvPr/>
        </p:nvSpPr>
        <p:spPr>
          <a:xfrm>
            <a:off x="4711446" y="3717036"/>
            <a:ext cx="651510" cy="23317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4732020" y="3765042"/>
            <a:ext cx="610362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Relatively Lower</a:t>
            </a:r>
            <a:endParaRPr sz="1100"/>
          </a:p>
        </p:txBody>
      </p:sp>
      <p:sp>
        <p:nvSpPr>
          <p:cNvPr id="197" name="Google Shape;197;p19"/>
          <p:cNvSpPr/>
          <p:nvPr/>
        </p:nvSpPr>
        <p:spPr>
          <a:xfrm>
            <a:off x="6000750" y="3717036"/>
            <a:ext cx="1405889" cy="2331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6055614" y="3765042"/>
            <a:ext cx="1289304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Zydus Lifesciences</a:t>
            </a:r>
            <a:endParaRPr sz="1100"/>
          </a:p>
        </p:txBody>
      </p:sp>
      <p:sp>
        <p:nvSpPr>
          <p:cNvPr id="199" name="Google Shape;199;p19"/>
          <p:cNvSpPr/>
          <p:nvPr/>
        </p:nvSpPr>
        <p:spPr>
          <a:xfrm>
            <a:off x="7454646" y="3717036"/>
            <a:ext cx="651510" cy="233172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475220" y="3765042"/>
            <a:ext cx="610362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Mixed</a:t>
            </a:r>
            <a:endParaRPr sz="1100"/>
          </a:p>
        </p:txBody>
      </p:sp>
      <p:sp>
        <p:nvSpPr>
          <p:cNvPr id="201" name="Google Shape;201;p19"/>
          <p:cNvSpPr/>
          <p:nvPr/>
        </p:nvSpPr>
        <p:spPr>
          <a:xfrm>
            <a:off x="514350" y="4053078"/>
            <a:ext cx="1405889" cy="2331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569214" y="4101084"/>
            <a:ext cx="1289304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Dr. Reddy’s</a:t>
            </a:r>
            <a:endParaRPr sz="1100"/>
          </a:p>
        </p:txBody>
      </p:sp>
      <p:sp>
        <p:nvSpPr>
          <p:cNvPr id="203" name="Google Shape;203;p19"/>
          <p:cNvSpPr/>
          <p:nvPr/>
        </p:nvSpPr>
        <p:spPr>
          <a:xfrm>
            <a:off x="1968246" y="4053078"/>
            <a:ext cx="651510" cy="233172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1988820" y="4101084"/>
            <a:ext cx="610362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Mixed</a:t>
            </a:r>
            <a:endParaRPr sz="1100"/>
          </a:p>
        </p:txBody>
      </p:sp>
      <p:sp>
        <p:nvSpPr>
          <p:cNvPr id="205" name="Google Shape;205;p19"/>
          <p:cNvSpPr/>
          <p:nvPr/>
        </p:nvSpPr>
        <p:spPr>
          <a:xfrm>
            <a:off x="3257550" y="4053078"/>
            <a:ext cx="1405889" cy="2331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312414" y="4101084"/>
            <a:ext cx="1289304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Lupin</a:t>
            </a:r>
            <a:endParaRPr sz="1100"/>
          </a:p>
        </p:txBody>
      </p:sp>
      <p:sp>
        <p:nvSpPr>
          <p:cNvPr id="207" name="Google Shape;207;p19"/>
          <p:cNvSpPr/>
          <p:nvPr/>
        </p:nvSpPr>
        <p:spPr>
          <a:xfrm>
            <a:off x="4711446" y="4053078"/>
            <a:ext cx="651510" cy="23317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4732020" y="4101084"/>
            <a:ext cx="610362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Relatively Higher</a:t>
            </a:r>
            <a:endParaRPr sz="1100"/>
          </a:p>
        </p:txBody>
      </p:sp>
      <p:sp>
        <p:nvSpPr>
          <p:cNvPr id="209" name="Google Shape;209;p19"/>
          <p:cNvSpPr/>
          <p:nvPr/>
        </p:nvSpPr>
        <p:spPr>
          <a:xfrm>
            <a:off x="6000750" y="4053078"/>
            <a:ext cx="1405889" cy="2331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055614" y="4101084"/>
            <a:ext cx="1289304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Aurobindo Pharma</a:t>
            </a:r>
            <a:endParaRPr sz="1100"/>
          </a:p>
        </p:txBody>
      </p:sp>
      <p:sp>
        <p:nvSpPr>
          <p:cNvPr id="211" name="Google Shape;211;p19"/>
          <p:cNvSpPr/>
          <p:nvPr/>
        </p:nvSpPr>
        <p:spPr>
          <a:xfrm>
            <a:off x="7454646" y="4053078"/>
            <a:ext cx="651510" cy="23317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7475220" y="4101084"/>
            <a:ext cx="610362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i="0" u="none" strike="noStrike" cap="non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Relatively Higher</a:t>
            </a:r>
            <a:endParaRPr sz="1100"/>
          </a:p>
        </p:txBody>
      </p:sp>
      <p:sp>
        <p:nvSpPr>
          <p:cNvPr id="213" name="Google Shape;213;p19"/>
          <p:cNvSpPr/>
          <p:nvPr/>
        </p:nvSpPr>
        <p:spPr>
          <a:xfrm>
            <a:off x="342900" y="4581144"/>
            <a:ext cx="8455914" cy="322326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9525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93776" y="4649724"/>
            <a:ext cx="81610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TAKEAWAY  |  Medium industry impact, but sensitivity is uneven across companies.</a:t>
            </a:r>
            <a:endParaRPr sz="1100"/>
          </a:p>
        </p:txBody>
      </p:sp>
      <p:sp>
        <p:nvSpPr>
          <p:cNvPr id="215" name="Google Shape;215;p19"/>
          <p:cNvSpPr txBox="1"/>
          <p:nvPr/>
        </p:nvSpPr>
        <p:spPr>
          <a:xfrm>
            <a:off x="1403796" y="1190523"/>
            <a:ext cx="20916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75569"/>
                </a:solidFill>
              </a:rPr>
              <a:t>Commercial shipping risk</a:t>
            </a:r>
            <a:endParaRPr sz="700">
              <a:solidFill>
                <a:srgbClr val="475569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/>
        </p:nvSpPr>
        <p:spPr>
          <a:xfrm>
            <a:off x="377190" y="150876"/>
            <a:ext cx="76809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DR. REDDY’S — STOCK RISK &amp; MITIGATION SNAPSHOT</a:t>
            </a:r>
            <a:endParaRPr sz="1100"/>
          </a:p>
        </p:txBody>
      </p:sp>
      <p:sp>
        <p:nvSpPr>
          <p:cNvPr id="221" name="Google Shape;221;p20"/>
          <p:cNvSpPr txBox="1"/>
          <p:nvPr/>
        </p:nvSpPr>
        <p:spPr>
          <a:xfrm>
            <a:off x="397764" y="528066"/>
            <a:ext cx="51435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Red Sea shipping disruption | Company-level financial risk</a:t>
            </a:r>
            <a:endParaRPr sz="1100"/>
          </a:p>
        </p:txBody>
      </p:sp>
      <p:sp>
        <p:nvSpPr>
          <p:cNvPr id="222" name="Google Shape;222;p20"/>
          <p:cNvSpPr/>
          <p:nvPr/>
        </p:nvSpPr>
        <p:spPr>
          <a:xfrm>
            <a:off x="7440925" y="80997"/>
            <a:ext cx="1461600" cy="440100"/>
          </a:xfrm>
          <a:prstGeom prst="roundRect">
            <a:avLst>
              <a:gd name="adj" fmla="val 16667"/>
            </a:avLst>
          </a:prstGeom>
          <a:solidFill>
            <a:srgbClr val="BE392F"/>
          </a:solidFill>
          <a:ln w="9525" cap="flat" cmpd="sng">
            <a:solidFill>
              <a:srgbClr val="BE392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475225" y="141350"/>
            <a:ext cx="1427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EXPOSURE: MODERATE</a:t>
            </a:r>
            <a:endParaRPr sz="1300"/>
          </a:p>
        </p:txBody>
      </p:sp>
      <p:sp>
        <p:nvSpPr>
          <p:cNvPr id="224" name="Google Shape;224;p20"/>
          <p:cNvSpPr/>
          <p:nvPr/>
        </p:nvSpPr>
        <p:spPr>
          <a:xfrm>
            <a:off x="129396" y="809244"/>
            <a:ext cx="2990994" cy="1460754"/>
          </a:xfrm>
          <a:prstGeom prst="roundRect">
            <a:avLst>
              <a:gd name="adj" fmla="val 16667"/>
            </a:avLst>
          </a:prstGeom>
          <a:solidFill>
            <a:srgbClr val="FAFBFD"/>
          </a:solidFill>
          <a:ln w="9525" cap="flat" cmpd="sng">
            <a:solidFill>
              <a:srgbClr val="D6DD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76125" y="857250"/>
            <a:ext cx="28209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50" b="1">
                <a:solidFill>
                  <a:srgbClr val="1E2D5A"/>
                </a:solidFill>
              </a:rPr>
              <a:t>1  BUSINESS MODEL &amp; EVENT IMPACT</a:t>
            </a:r>
            <a:endParaRPr sz="950" b="1">
              <a:solidFill>
                <a:srgbClr val="1E2D5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900" b="1">
              <a:solidFill>
                <a:srgbClr val="1E2D5A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1E2D5A"/>
              </a:solidFill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89782" y="1065708"/>
            <a:ext cx="2820900" cy="13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rgbClr val="303844"/>
                </a:solidFill>
              </a:rPr>
              <a:t>BUSINESS MODEL</a:t>
            </a:r>
            <a:endParaRPr sz="800" b="1">
              <a:solidFill>
                <a:srgbClr val="30384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303844"/>
                </a:solidFill>
              </a:rPr>
              <a:t>• Global Generics ≈ 88% — finished medicines sold globally</a:t>
            </a:r>
            <a:endParaRPr sz="750">
              <a:solidFill>
                <a:srgbClr val="30384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303844"/>
                </a:solidFill>
              </a:rPr>
              <a:t>• PSAI (Pharmaceutical Services and Active Ingredients )≈ 11% — APIs (Active Pharmaceutical Ingredients ), intermediates &amp; pharmaceutical services</a:t>
            </a:r>
            <a:endParaRPr sz="750">
              <a:solidFill>
                <a:srgbClr val="30384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rgbClr val="303844"/>
                </a:solidFill>
              </a:rPr>
              <a:t>RED SEA IMPACT</a:t>
            </a:r>
            <a:endParaRPr sz="800" b="1">
              <a:solidFill>
                <a:srgbClr val="30384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303844"/>
                </a:solidFill>
              </a:rPr>
              <a:t>• Rerouting → longer transit + higher freight/insurance costs</a:t>
            </a:r>
            <a:endParaRPr sz="750">
              <a:solidFill>
                <a:srgbClr val="30384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303844"/>
                </a:solidFill>
              </a:rPr>
              <a:t>• Working capital / COGS ↑ → margin &amp; FCF pressure</a:t>
            </a:r>
            <a:endParaRPr sz="750">
              <a:solidFill>
                <a:srgbClr val="303844"/>
              </a:solidFill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sz="600">
              <a:solidFill>
                <a:srgbClr val="303844"/>
              </a:solidFill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236976" y="809244"/>
            <a:ext cx="2571750" cy="1405889"/>
          </a:xfrm>
          <a:prstGeom prst="roundRect">
            <a:avLst>
              <a:gd name="adj" fmla="val 16667"/>
            </a:avLst>
          </a:prstGeom>
          <a:solidFill>
            <a:srgbClr val="FAFBFD"/>
          </a:solidFill>
          <a:ln w="9525" cap="flat" cmpd="sng">
            <a:solidFill>
              <a:srgbClr val="D6DD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394710" y="953262"/>
            <a:ext cx="222885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2  FY2024 REVENUE MIX</a:t>
            </a:r>
            <a:endParaRPr sz="1100"/>
          </a:p>
        </p:txBody>
      </p:sp>
      <p:sp>
        <p:nvSpPr>
          <p:cNvPr id="229" name="Google Shape;229;p20"/>
          <p:cNvSpPr txBox="1"/>
          <p:nvPr/>
        </p:nvSpPr>
        <p:spPr>
          <a:xfrm>
            <a:off x="3415284" y="1213866"/>
            <a:ext cx="219456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North America  46.5%    |    India  16.6%</a:t>
            </a:r>
            <a:endParaRPr sz="1100"/>
          </a:p>
        </p:txBody>
      </p:sp>
      <p:sp>
        <p:nvSpPr>
          <p:cNvPr id="230" name="Google Shape;230;p20"/>
          <p:cNvSpPr txBox="1"/>
          <p:nvPr/>
        </p:nvSpPr>
        <p:spPr>
          <a:xfrm>
            <a:off x="3415284" y="1518237"/>
            <a:ext cx="2194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Russia  11.1%    |    Europe  7.3%</a:t>
            </a:r>
            <a:endParaRPr sz="1100"/>
          </a:p>
        </p:txBody>
      </p:sp>
      <p:sp>
        <p:nvSpPr>
          <p:cNvPr id="231" name="Google Shape;231;p20"/>
          <p:cNvSpPr txBox="1"/>
          <p:nvPr/>
        </p:nvSpPr>
        <p:spPr>
          <a:xfrm>
            <a:off x="3415284" y="1721358"/>
            <a:ext cx="2194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PSAI  10.7%    |   </a:t>
            </a:r>
            <a:endParaRPr sz="1100"/>
          </a:p>
        </p:txBody>
      </p:sp>
      <p:sp>
        <p:nvSpPr>
          <p:cNvPr id="232" name="Google Shape;232;p20"/>
          <p:cNvSpPr/>
          <p:nvPr/>
        </p:nvSpPr>
        <p:spPr>
          <a:xfrm>
            <a:off x="5932170" y="809244"/>
            <a:ext cx="2832354" cy="1405889"/>
          </a:xfrm>
          <a:prstGeom prst="roundRect">
            <a:avLst>
              <a:gd name="adj" fmla="val 16667"/>
            </a:avLst>
          </a:prstGeom>
          <a:solidFill>
            <a:srgbClr val="FAFBFD"/>
          </a:solidFill>
          <a:ln w="9525" cap="flat" cmpd="sng">
            <a:solidFill>
              <a:srgbClr val="D6DD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103620" y="953262"/>
            <a:ext cx="243459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3  STOCK RISK METRICS</a:t>
            </a:r>
            <a:endParaRPr sz="1100"/>
          </a:p>
        </p:txBody>
      </p:sp>
      <p:sp>
        <p:nvSpPr>
          <p:cNvPr id="234" name="Google Shape;234;p20"/>
          <p:cNvSpPr txBox="1"/>
          <p:nvPr/>
        </p:nvSpPr>
        <p:spPr>
          <a:xfrm>
            <a:off x="6103619" y="1237365"/>
            <a:ext cx="2154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Beta — pre-event</a:t>
            </a:r>
            <a:endParaRPr sz="1200"/>
          </a:p>
        </p:txBody>
      </p:sp>
      <p:sp>
        <p:nvSpPr>
          <p:cNvPr id="235" name="Google Shape;235;p20"/>
          <p:cNvSpPr txBox="1"/>
          <p:nvPr/>
        </p:nvSpPr>
        <p:spPr>
          <a:xfrm>
            <a:off x="8058150" y="1240895"/>
            <a:ext cx="569214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0.254</a:t>
            </a:r>
            <a:endParaRPr sz="1100"/>
          </a:p>
        </p:txBody>
      </p:sp>
      <p:sp>
        <p:nvSpPr>
          <p:cNvPr id="236" name="Google Shape;236;p20"/>
          <p:cNvSpPr txBox="1"/>
          <p:nvPr/>
        </p:nvSpPr>
        <p:spPr>
          <a:xfrm>
            <a:off x="6103619" y="1456821"/>
            <a:ext cx="2154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Beta  — post-event</a:t>
            </a:r>
            <a:endParaRPr sz="1200"/>
          </a:p>
        </p:txBody>
      </p:sp>
      <p:sp>
        <p:nvSpPr>
          <p:cNvPr id="237" name="Google Shape;237;p20"/>
          <p:cNvSpPr txBox="1"/>
          <p:nvPr/>
        </p:nvSpPr>
        <p:spPr>
          <a:xfrm>
            <a:off x="8058150" y="1460351"/>
            <a:ext cx="569214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0.355</a:t>
            </a:r>
            <a:endParaRPr sz="1100"/>
          </a:p>
        </p:txBody>
      </p:sp>
      <p:sp>
        <p:nvSpPr>
          <p:cNvPr id="238" name="Google Shape;238;p20"/>
          <p:cNvSpPr txBox="1"/>
          <p:nvPr/>
        </p:nvSpPr>
        <p:spPr>
          <a:xfrm>
            <a:off x="6103619" y="1676277"/>
            <a:ext cx="2154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Historical volatility (ann.)</a:t>
            </a:r>
            <a:endParaRPr sz="1200"/>
          </a:p>
        </p:txBody>
      </p:sp>
      <p:sp>
        <p:nvSpPr>
          <p:cNvPr id="239" name="Google Shape;239;p20"/>
          <p:cNvSpPr txBox="1"/>
          <p:nvPr/>
        </p:nvSpPr>
        <p:spPr>
          <a:xfrm>
            <a:off x="8058150" y="1693926"/>
            <a:ext cx="569214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19.3%</a:t>
            </a:r>
            <a:endParaRPr sz="1100"/>
          </a:p>
        </p:txBody>
      </p:sp>
      <p:sp>
        <p:nvSpPr>
          <p:cNvPr id="240" name="Google Shape;240;p20"/>
          <p:cNvSpPr txBox="1"/>
          <p:nvPr/>
        </p:nvSpPr>
        <p:spPr>
          <a:xfrm>
            <a:off x="6103619" y="1895733"/>
            <a:ext cx="2154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Event-window volatility (ann.)</a:t>
            </a:r>
            <a:endParaRPr sz="1200"/>
          </a:p>
        </p:txBody>
      </p:sp>
      <p:sp>
        <p:nvSpPr>
          <p:cNvPr id="241" name="Google Shape;241;p20"/>
          <p:cNvSpPr txBox="1"/>
          <p:nvPr/>
        </p:nvSpPr>
        <p:spPr>
          <a:xfrm>
            <a:off x="8058150" y="1913382"/>
            <a:ext cx="569214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12.7%</a:t>
            </a:r>
            <a:endParaRPr sz="1100"/>
          </a:p>
        </p:txBody>
      </p:sp>
      <p:sp>
        <p:nvSpPr>
          <p:cNvPr id="242" name="Google Shape;242;p20"/>
          <p:cNvSpPr/>
          <p:nvPr/>
        </p:nvSpPr>
        <p:spPr>
          <a:xfrm>
            <a:off x="346997" y="2401509"/>
            <a:ext cx="4972050" cy="1263882"/>
          </a:xfrm>
          <a:prstGeom prst="roundRect">
            <a:avLst>
              <a:gd name="adj" fmla="val 16667"/>
            </a:avLst>
          </a:prstGeom>
          <a:solidFill>
            <a:srgbClr val="FAFBFD"/>
          </a:solidFill>
          <a:ln w="9525" cap="flat" cmpd="sng">
            <a:solidFill>
              <a:srgbClr val="D6DD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34924" y="2482596"/>
            <a:ext cx="452628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4  PRE-EVENT → EVENT → POST-EVENT PERFORMANCE</a:t>
            </a:r>
            <a:endParaRPr sz="1100"/>
          </a:p>
        </p:txBody>
      </p:sp>
      <p:sp>
        <p:nvSpPr>
          <p:cNvPr id="244" name="Google Shape;244;p20"/>
          <p:cNvSpPr txBox="1"/>
          <p:nvPr/>
        </p:nvSpPr>
        <p:spPr>
          <a:xfrm>
            <a:off x="562356" y="2756915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Pre-event</a:t>
            </a:r>
            <a:endParaRPr sz="1100"/>
          </a:p>
        </p:txBody>
      </p:sp>
      <p:sp>
        <p:nvSpPr>
          <p:cNvPr id="245" name="Google Shape;245;p20"/>
          <p:cNvSpPr txBox="1"/>
          <p:nvPr/>
        </p:nvSpPr>
        <p:spPr>
          <a:xfrm>
            <a:off x="562356" y="300380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₹1,120.83</a:t>
            </a:r>
            <a:endParaRPr sz="1100"/>
          </a:p>
        </p:txBody>
      </p:sp>
      <p:sp>
        <p:nvSpPr>
          <p:cNvPr id="246" name="Google Shape;246;p20"/>
          <p:cNvSpPr txBox="1"/>
          <p:nvPr/>
        </p:nvSpPr>
        <p:spPr>
          <a:xfrm>
            <a:off x="562356" y="327812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100"/>
          </a:p>
        </p:txBody>
      </p:sp>
      <p:sp>
        <p:nvSpPr>
          <p:cNvPr id="247" name="Google Shape;247;p20"/>
          <p:cNvSpPr txBox="1"/>
          <p:nvPr/>
        </p:nvSpPr>
        <p:spPr>
          <a:xfrm>
            <a:off x="1371600" y="2756915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20-Nov-23</a:t>
            </a:r>
            <a:endParaRPr sz="1100"/>
          </a:p>
        </p:txBody>
      </p:sp>
      <p:sp>
        <p:nvSpPr>
          <p:cNvPr id="248" name="Google Shape;248;p20"/>
          <p:cNvSpPr txBox="1"/>
          <p:nvPr/>
        </p:nvSpPr>
        <p:spPr>
          <a:xfrm>
            <a:off x="1371600" y="300380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₹1,129.29</a:t>
            </a:r>
            <a:endParaRPr sz="1100"/>
          </a:p>
        </p:txBody>
      </p:sp>
      <p:sp>
        <p:nvSpPr>
          <p:cNvPr id="249" name="Google Shape;249;p20"/>
          <p:cNvSpPr txBox="1"/>
          <p:nvPr/>
        </p:nvSpPr>
        <p:spPr>
          <a:xfrm>
            <a:off x="1371600" y="327812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994C"/>
                </a:solidFill>
                <a:latin typeface="Arial"/>
                <a:ea typeface="Arial"/>
                <a:cs typeface="Arial"/>
                <a:sym typeface="Arial"/>
              </a:rPr>
              <a:t>+0.75%</a:t>
            </a:r>
            <a:endParaRPr sz="1100"/>
          </a:p>
        </p:txBody>
      </p:sp>
      <p:sp>
        <p:nvSpPr>
          <p:cNvPr id="250" name="Google Shape;250;p20"/>
          <p:cNvSpPr txBox="1"/>
          <p:nvPr/>
        </p:nvSpPr>
        <p:spPr>
          <a:xfrm>
            <a:off x="2180844" y="2756915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1 Month</a:t>
            </a:r>
            <a:endParaRPr sz="1100"/>
          </a:p>
        </p:txBody>
      </p:sp>
      <p:sp>
        <p:nvSpPr>
          <p:cNvPr id="251" name="Google Shape;251;p20"/>
          <p:cNvSpPr txBox="1"/>
          <p:nvPr/>
        </p:nvSpPr>
        <p:spPr>
          <a:xfrm>
            <a:off x="2180844" y="300380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₹1,110.90</a:t>
            </a:r>
            <a:endParaRPr sz="1100"/>
          </a:p>
        </p:txBody>
      </p:sp>
      <p:sp>
        <p:nvSpPr>
          <p:cNvPr id="252" name="Google Shape;252;p20"/>
          <p:cNvSpPr txBox="1"/>
          <p:nvPr/>
        </p:nvSpPr>
        <p:spPr>
          <a:xfrm>
            <a:off x="2180844" y="327812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BE392F"/>
                </a:solidFill>
                <a:latin typeface="Arial"/>
                <a:ea typeface="Arial"/>
                <a:cs typeface="Arial"/>
                <a:sym typeface="Arial"/>
              </a:rPr>
              <a:t>−1.63%</a:t>
            </a:r>
            <a:endParaRPr sz="1100"/>
          </a:p>
        </p:txBody>
      </p:sp>
      <p:sp>
        <p:nvSpPr>
          <p:cNvPr id="253" name="Google Shape;253;p20"/>
          <p:cNvSpPr txBox="1"/>
          <p:nvPr/>
        </p:nvSpPr>
        <p:spPr>
          <a:xfrm>
            <a:off x="2996946" y="2756915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3 Months</a:t>
            </a:r>
            <a:endParaRPr sz="1100"/>
          </a:p>
        </p:txBody>
      </p:sp>
      <p:sp>
        <p:nvSpPr>
          <p:cNvPr id="254" name="Google Shape;254;p20"/>
          <p:cNvSpPr txBox="1"/>
          <p:nvPr/>
        </p:nvSpPr>
        <p:spPr>
          <a:xfrm>
            <a:off x="2996946" y="300380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1,269.83</a:t>
            </a:r>
            <a:endParaRPr sz="800" b="1" i="0" u="none" strike="noStrike" cap="none">
              <a:solidFill>
                <a:srgbClr val="1E2D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996946" y="327812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994C"/>
                </a:solidFill>
                <a:latin typeface="Arial"/>
                <a:ea typeface="Arial"/>
                <a:cs typeface="Arial"/>
                <a:sym typeface="Arial"/>
              </a:rPr>
              <a:t>+12.44%</a:t>
            </a:r>
            <a:endParaRPr sz="1100"/>
          </a:p>
        </p:txBody>
      </p:sp>
      <p:sp>
        <p:nvSpPr>
          <p:cNvPr id="256" name="Google Shape;256;p20"/>
          <p:cNvSpPr txBox="1"/>
          <p:nvPr/>
        </p:nvSpPr>
        <p:spPr>
          <a:xfrm>
            <a:off x="3813048" y="2756915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6 Months</a:t>
            </a:r>
            <a:endParaRPr sz="1100"/>
          </a:p>
        </p:txBody>
      </p:sp>
      <p:sp>
        <p:nvSpPr>
          <p:cNvPr id="257" name="Google Shape;257;p20"/>
          <p:cNvSpPr txBox="1"/>
          <p:nvPr/>
        </p:nvSpPr>
        <p:spPr>
          <a:xfrm>
            <a:off x="3813048" y="300380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1,155.96</a:t>
            </a:r>
            <a:endParaRPr sz="800" b="1" i="0" u="none" strike="noStrike" cap="none">
              <a:solidFill>
                <a:srgbClr val="1E2D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3813048" y="327812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994C"/>
                </a:solidFill>
                <a:latin typeface="Arial"/>
                <a:ea typeface="Arial"/>
                <a:cs typeface="Arial"/>
                <a:sym typeface="Arial"/>
              </a:rPr>
              <a:t>+2.36%</a:t>
            </a:r>
            <a:endParaRPr sz="1100"/>
          </a:p>
        </p:txBody>
      </p:sp>
      <p:sp>
        <p:nvSpPr>
          <p:cNvPr id="259" name="Google Shape;259;p20"/>
          <p:cNvSpPr txBox="1"/>
          <p:nvPr/>
        </p:nvSpPr>
        <p:spPr>
          <a:xfrm>
            <a:off x="4629150" y="2756915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1 Year</a:t>
            </a:r>
            <a:endParaRPr sz="1100"/>
          </a:p>
        </p:txBody>
      </p:sp>
      <p:sp>
        <p:nvSpPr>
          <p:cNvPr id="260" name="Google Shape;260;p20"/>
          <p:cNvSpPr txBox="1"/>
          <p:nvPr/>
        </p:nvSpPr>
        <p:spPr>
          <a:xfrm>
            <a:off x="4629150" y="300380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₹1,199.90</a:t>
            </a:r>
            <a:endParaRPr sz="1100"/>
          </a:p>
        </p:txBody>
      </p:sp>
      <p:sp>
        <p:nvSpPr>
          <p:cNvPr id="261" name="Google Shape;261;p20"/>
          <p:cNvSpPr txBox="1"/>
          <p:nvPr/>
        </p:nvSpPr>
        <p:spPr>
          <a:xfrm>
            <a:off x="4629150" y="327812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994C"/>
                </a:solidFill>
                <a:latin typeface="Arial"/>
                <a:ea typeface="Arial"/>
                <a:cs typeface="Arial"/>
                <a:sym typeface="Arial"/>
              </a:rPr>
              <a:t>+6.25%</a:t>
            </a:r>
            <a:endParaRPr sz="1100"/>
          </a:p>
        </p:txBody>
      </p:sp>
      <p:sp>
        <p:nvSpPr>
          <p:cNvPr id="262" name="Google Shape;262;p20"/>
          <p:cNvSpPr/>
          <p:nvPr/>
        </p:nvSpPr>
        <p:spPr>
          <a:xfrm>
            <a:off x="5520689" y="2345436"/>
            <a:ext cx="3381770" cy="1440956"/>
          </a:xfrm>
          <a:prstGeom prst="roundRect">
            <a:avLst>
              <a:gd name="adj" fmla="val 16667"/>
            </a:avLst>
          </a:prstGeom>
          <a:solidFill>
            <a:srgbClr val="FAFBFD"/>
          </a:solidFill>
          <a:ln w="9525" cap="flat" cmpd="sng">
            <a:solidFill>
              <a:srgbClr val="D6DD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5678423" y="2482596"/>
            <a:ext cx="2880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5  STRESS </a:t>
            </a:r>
            <a:r>
              <a:rPr lang="en" sz="900" b="1">
                <a:solidFill>
                  <a:srgbClr val="1E2D5A"/>
                </a:solidFill>
              </a:rPr>
              <a:t>TEST—FREIGHT</a:t>
            </a: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 COST SHOCK</a:t>
            </a:r>
            <a:endParaRPr sz="1100"/>
          </a:p>
        </p:txBody>
      </p:sp>
      <p:sp>
        <p:nvSpPr>
          <p:cNvPr id="264" name="Google Shape;264;p20"/>
          <p:cNvSpPr txBox="1"/>
          <p:nvPr/>
        </p:nvSpPr>
        <p:spPr>
          <a:xfrm>
            <a:off x="5613725" y="2763774"/>
            <a:ext cx="106299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1100"/>
          </a:p>
        </p:txBody>
      </p:sp>
      <p:sp>
        <p:nvSpPr>
          <p:cNvPr id="265" name="Google Shape;265;p20"/>
          <p:cNvSpPr txBox="1"/>
          <p:nvPr/>
        </p:nvSpPr>
        <p:spPr>
          <a:xfrm>
            <a:off x="6676715" y="276377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sz="1100"/>
          </a:p>
        </p:txBody>
      </p:sp>
      <p:sp>
        <p:nvSpPr>
          <p:cNvPr id="266" name="Google Shape;266;p20"/>
          <p:cNvSpPr txBox="1"/>
          <p:nvPr/>
        </p:nvSpPr>
        <p:spPr>
          <a:xfrm>
            <a:off x="7362515" y="276377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+30%</a:t>
            </a:r>
            <a:endParaRPr sz="1100"/>
          </a:p>
        </p:txBody>
      </p:sp>
      <p:sp>
        <p:nvSpPr>
          <p:cNvPr id="267" name="Google Shape;267;p20"/>
          <p:cNvSpPr txBox="1"/>
          <p:nvPr/>
        </p:nvSpPr>
        <p:spPr>
          <a:xfrm>
            <a:off x="8048315" y="276377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 +100%</a:t>
            </a:r>
            <a:endParaRPr sz="1100"/>
          </a:p>
        </p:txBody>
      </p:sp>
      <p:sp>
        <p:nvSpPr>
          <p:cNvPr id="268" name="Google Shape;268;p20"/>
          <p:cNvSpPr txBox="1"/>
          <p:nvPr/>
        </p:nvSpPr>
        <p:spPr>
          <a:xfrm>
            <a:off x="5613725" y="2990088"/>
            <a:ext cx="106299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EBITDA margin</a:t>
            </a:r>
            <a:endParaRPr sz="1100"/>
          </a:p>
        </p:txBody>
      </p:sp>
      <p:sp>
        <p:nvSpPr>
          <p:cNvPr id="269" name="Google Shape;269;p20"/>
          <p:cNvSpPr txBox="1"/>
          <p:nvPr/>
        </p:nvSpPr>
        <p:spPr>
          <a:xfrm>
            <a:off x="6676715" y="2990088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28.41%</a:t>
            </a:r>
            <a:endParaRPr sz="1100"/>
          </a:p>
        </p:txBody>
      </p:sp>
      <p:sp>
        <p:nvSpPr>
          <p:cNvPr id="270" name="Google Shape;270;p20"/>
          <p:cNvSpPr txBox="1"/>
          <p:nvPr/>
        </p:nvSpPr>
        <p:spPr>
          <a:xfrm>
            <a:off x="7362515" y="2990088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28.25%</a:t>
            </a:r>
            <a:endParaRPr sz="1100"/>
          </a:p>
        </p:txBody>
      </p:sp>
      <p:sp>
        <p:nvSpPr>
          <p:cNvPr id="271" name="Google Shape;271;p20"/>
          <p:cNvSpPr txBox="1"/>
          <p:nvPr/>
        </p:nvSpPr>
        <p:spPr>
          <a:xfrm>
            <a:off x="8048315" y="2990088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27.89%</a:t>
            </a:r>
            <a:endParaRPr sz="1100"/>
          </a:p>
        </p:txBody>
      </p:sp>
      <p:sp>
        <p:nvSpPr>
          <p:cNvPr id="272" name="Google Shape;272;p20"/>
          <p:cNvSpPr txBox="1"/>
          <p:nvPr/>
        </p:nvSpPr>
        <p:spPr>
          <a:xfrm>
            <a:off x="5613725" y="3202686"/>
            <a:ext cx="106299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PAT margin</a:t>
            </a:r>
            <a:endParaRPr sz="1100"/>
          </a:p>
        </p:txBody>
      </p:sp>
      <p:sp>
        <p:nvSpPr>
          <p:cNvPr id="273" name="Google Shape;273;p20"/>
          <p:cNvSpPr txBox="1"/>
          <p:nvPr/>
        </p:nvSpPr>
        <p:spPr>
          <a:xfrm>
            <a:off x="6676715" y="3202686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19.98%</a:t>
            </a:r>
            <a:endParaRPr sz="1100"/>
          </a:p>
        </p:txBody>
      </p:sp>
      <p:sp>
        <p:nvSpPr>
          <p:cNvPr id="274" name="Google Shape;274;p20"/>
          <p:cNvSpPr txBox="1"/>
          <p:nvPr/>
        </p:nvSpPr>
        <p:spPr>
          <a:xfrm>
            <a:off x="7362515" y="3202686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19.86%</a:t>
            </a:r>
            <a:endParaRPr sz="1100"/>
          </a:p>
        </p:txBody>
      </p:sp>
      <p:sp>
        <p:nvSpPr>
          <p:cNvPr id="275" name="Google Shape;275;p20"/>
          <p:cNvSpPr txBox="1"/>
          <p:nvPr/>
        </p:nvSpPr>
        <p:spPr>
          <a:xfrm>
            <a:off x="8048315" y="3202686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19.59%</a:t>
            </a:r>
            <a:endParaRPr sz="1100"/>
          </a:p>
        </p:txBody>
      </p:sp>
      <p:sp>
        <p:nvSpPr>
          <p:cNvPr id="276" name="Google Shape;276;p20"/>
          <p:cNvSpPr txBox="1"/>
          <p:nvPr/>
        </p:nvSpPr>
        <p:spPr>
          <a:xfrm>
            <a:off x="5613725" y="3415284"/>
            <a:ext cx="106299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CFO (₹ cr)</a:t>
            </a:r>
            <a:endParaRPr sz="1100"/>
          </a:p>
        </p:txBody>
      </p:sp>
      <p:sp>
        <p:nvSpPr>
          <p:cNvPr id="277" name="Google Shape;277;p20"/>
          <p:cNvSpPr txBox="1"/>
          <p:nvPr/>
        </p:nvSpPr>
        <p:spPr>
          <a:xfrm>
            <a:off x="6676715" y="341528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4,543</a:t>
            </a:r>
            <a:endParaRPr sz="1100"/>
          </a:p>
        </p:txBody>
      </p:sp>
      <p:sp>
        <p:nvSpPr>
          <p:cNvPr id="278" name="Google Shape;278;p20"/>
          <p:cNvSpPr txBox="1"/>
          <p:nvPr/>
        </p:nvSpPr>
        <p:spPr>
          <a:xfrm>
            <a:off x="7362515" y="341528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4,500</a:t>
            </a:r>
            <a:endParaRPr sz="1100"/>
          </a:p>
        </p:txBody>
      </p:sp>
      <p:sp>
        <p:nvSpPr>
          <p:cNvPr id="279" name="Google Shape;279;p20"/>
          <p:cNvSpPr txBox="1"/>
          <p:nvPr/>
        </p:nvSpPr>
        <p:spPr>
          <a:xfrm>
            <a:off x="8048315" y="3415284"/>
            <a:ext cx="68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4,398</a:t>
            </a:r>
            <a:endParaRPr sz="1100"/>
          </a:p>
        </p:txBody>
      </p:sp>
      <p:sp>
        <p:nvSpPr>
          <p:cNvPr id="280" name="Google Shape;280;p20"/>
          <p:cNvSpPr txBox="1"/>
          <p:nvPr/>
        </p:nvSpPr>
        <p:spPr>
          <a:xfrm>
            <a:off x="5696625" y="3588926"/>
            <a:ext cx="2927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Assumptions: 26% exposed revenue; freight = 2% of exposed revenue; tax = 25%.</a:t>
            </a:r>
            <a:endParaRPr sz="1100"/>
          </a:p>
        </p:txBody>
      </p:sp>
      <p:sp>
        <p:nvSpPr>
          <p:cNvPr id="281" name="Google Shape;281;p20"/>
          <p:cNvSpPr/>
          <p:nvPr/>
        </p:nvSpPr>
        <p:spPr>
          <a:xfrm>
            <a:off x="220060" y="3793574"/>
            <a:ext cx="5458500" cy="1000500"/>
          </a:xfrm>
          <a:prstGeom prst="roundRect">
            <a:avLst>
              <a:gd name="adj" fmla="val 16667"/>
            </a:avLst>
          </a:prstGeom>
          <a:solidFill>
            <a:srgbClr val="FAFBFD"/>
          </a:solidFill>
          <a:ln w="9525" cap="flat" cmpd="sng">
            <a:solidFill>
              <a:srgbClr val="D6DD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362394" y="3930755"/>
            <a:ext cx="233172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6  RISK MITIGATION</a:t>
            </a:r>
            <a:endParaRPr sz="1100"/>
          </a:p>
        </p:txBody>
      </p:sp>
      <p:sp>
        <p:nvSpPr>
          <p:cNvPr id="283" name="Google Shape;283;p20"/>
          <p:cNvSpPr txBox="1"/>
          <p:nvPr/>
        </p:nvSpPr>
        <p:spPr>
          <a:xfrm>
            <a:off x="286308" y="4190582"/>
            <a:ext cx="2834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</a:rPr>
              <a:t>CURRENT / EVIDENCED</a:t>
            </a:r>
            <a:b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• Diversified markets &amp; product base</a:t>
            </a:r>
            <a:b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• Supply-chain monitoring / continuity focus</a:t>
            </a:r>
            <a:endParaRPr sz="1100"/>
          </a:p>
        </p:txBody>
      </p:sp>
      <p:sp>
        <p:nvSpPr>
          <p:cNvPr id="284" name="Google Shape;284;p20"/>
          <p:cNvSpPr txBox="1"/>
          <p:nvPr/>
        </p:nvSpPr>
        <p:spPr>
          <a:xfrm>
            <a:off x="2914623" y="3885211"/>
            <a:ext cx="2606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303844"/>
                </a:solidFill>
              </a:rPr>
              <a:t>RECOMMENDED NEXT</a:t>
            </a:r>
            <a:br>
              <a:rPr lang="en" sz="900" b="1" i="0" u="none" strike="noStrike" cap="none">
                <a:solidFill>
                  <a:srgbClr val="303844"/>
                </a:solidFill>
              </a:rPr>
            </a:b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900">
                <a:solidFill>
                  <a:srgbClr val="303844"/>
                </a:solidFill>
              </a:rPr>
              <a:t>Backup </a:t>
            </a: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suppliers</a:t>
            </a:r>
            <a:b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• Strategic safety stock</a:t>
            </a:r>
            <a:b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• Longer-tenure freight contracts</a:t>
            </a:r>
            <a:b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b="0" i="0" u="none" strike="noStrike" cap="none">
                <a:solidFill>
                  <a:srgbClr val="303844"/>
                </a:solidFill>
                <a:latin typeface="Arial"/>
                <a:ea typeface="Arial"/>
                <a:cs typeface="Arial"/>
                <a:sym typeface="Arial"/>
              </a:rPr>
              <a:t>• FX forwards + route review</a:t>
            </a:r>
            <a:endParaRPr sz="1100"/>
          </a:p>
        </p:txBody>
      </p:sp>
      <p:sp>
        <p:nvSpPr>
          <p:cNvPr id="285" name="Google Shape;285;p20"/>
          <p:cNvSpPr/>
          <p:nvPr/>
        </p:nvSpPr>
        <p:spPr>
          <a:xfrm>
            <a:off x="6021323" y="3895343"/>
            <a:ext cx="2927291" cy="1164049"/>
          </a:xfrm>
          <a:prstGeom prst="roundRect">
            <a:avLst>
              <a:gd name="adj" fmla="val 16667"/>
            </a:avLst>
          </a:prstGeom>
          <a:solidFill>
            <a:srgbClr val="FAFBFD"/>
          </a:solidFill>
          <a:ln w="9525" cap="flat" cmpd="sng">
            <a:solidFill>
              <a:srgbClr val="D6DD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172200" y="3985675"/>
            <a:ext cx="2606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RISK-O-METER </a:t>
            </a:r>
            <a:endParaRPr sz="1100"/>
          </a:p>
        </p:txBody>
      </p:sp>
      <p:sp>
        <p:nvSpPr>
          <p:cNvPr id="287" name="Google Shape;287;p20"/>
          <p:cNvSpPr/>
          <p:nvPr/>
        </p:nvSpPr>
        <p:spPr>
          <a:xfrm>
            <a:off x="6185916" y="4277579"/>
            <a:ext cx="888346" cy="271284"/>
          </a:xfrm>
          <a:prstGeom prst="rect">
            <a:avLst/>
          </a:prstGeom>
          <a:solidFill>
            <a:srgbClr val="30994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6185915" y="4307492"/>
            <a:ext cx="84694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100"/>
          </a:p>
        </p:txBody>
      </p:sp>
      <p:sp>
        <p:nvSpPr>
          <p:cNvPr id="289" name="Google Shape;289;p20"/>
          <p:cNvSpPr/>
          <p:nvPr/>
        </p:nvSpPr>
        <p:spPr>
          <a:xfrm>
            <a:off x="6981444" y="4277579"/>
            <a:ext cx="888346" cy="271284"/>
          </a:xfrm>
          <a:prstGeom prst="rect">
            <a:avLst/>
          </a:prstGeom>
          <a:solidFill>
            <a:srgbClr val="DC9D1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6981443" y="4337685"/>
            <a:ext cx="84694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MODERATE</a:t>
            </a:r>
            <a:endParaRPr sz="1100"/>
          </a:p>
        </p:txBody>
      </p:sp>
      <p:sp>
        <p:nvSpPr>
          <p:cNvPr id="291" name="Google Shape;291;p20"/>
          <p:cNvSpPr/>
          <p:nvPr/>
        </p:nvSpPr>
        <p:spPr>
          <a:xfrm>
            <a:off x="7776972" y="4277579"/>
            <a:ext cx="888346" cy="271284"/>
          </a:xfrm>
          <a:prstGeom prst="rect">
            <a:avLst/>
          </a:prstGeom>
          <a:solidFill>
            <a:srgbClr val="E1701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7776971" y="4337685"/>
            <a:ext cx="84694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100"/>
          </a:p>
        </p:txBody>
      </p:sp>
      <p:sp>
        <p:nvSpPr>
          <p:cNvPr id="293" name="Google Shape;293;p20"/>
          <p:cNvSpPr txBox="1"/>
          <p:nvPr/>
        </p:nvSpPr>
        <p:spPr>
          <a:xfrm>
            <a:off x="6185916" y="4615306"/>
            <a:ext cx="113157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BEFORE: 0.254</a:t>
            </a:r>
            <a:endParaRPr sz="1100"/>
          </a:p>
        </p:txBody>
      </p:sp>
      <p:sp>
        <p:nvSpPr>
          <p:cNvPr id="294" name="Google Shape;294;p20"/>
          <p:cNvSpPr txBox="1"/>
          <p:nvPr/>
        </p:nvSpPr>
        <p:spPr>
          <a:xfrm>
            <a:off x="7351776" y="4615306"/>
            <a:ext cx="113157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1E2D5A"/>
                </a:solidFill>
                <a:latin typeface="Arial"/>
                <a:ea typeface="Arial"/>
                <a:cs typeface="Arial"/>
                <a:sym typeface="Arial"/>
              </a:rPr>
              <a:t>AFTER: 0.355</a:t>
            </a:r>
            <a:endParaRPr sz="1100"/>
          </a:p>
        </p:txBody>
      </p:sp>
      <p:sp>
        <p:nvSpPr>
          <p:cNvPr id="295" name="Google Shape;295;p20"/>
          <p:cNvSpPr txBox="1"/>
          <p:nvPr/>
        </p:nvSpPr>
        <p:spPr>
          <a:xfrm>
            <a:off x="6171207" y="4787964"/>
            <a:ext cx="273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586270"/>
                </a:solidFill>
                <a:latin typeface="Arial"/>
                <a:ea typeface="Arial"/>
                <a:cs typeface="Arial"/>
                <a:sym typeface="Arial"/>
              </a:rPr>
              <a:t>Both remain in LOW band; beta increased after the event.</a:t>
            </a:r>
            <a:endParaRPr sz="1100"/>
          </a:p>
        </p:txBody>
      </p:sp>
      <p:sp>
        <p:nvSpPr>
          <p:cNvPr id="296" name="Google Shape;296;p20"/>
          <p:cNvSpPr txBox="1"/>
          <p:nvPr/>
        </p:nvSpPr>
        <p:spPr>
          <a:xfrm>
            <a:off x="61331" y="4867014"/>
            <a:ext cx="5960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Sources: Dr. Reddy’s FY2024 filing (SEC); CRISIL, Sectoral impact of Red Sea trade disruptions (Feb 2024); project workbook. Stress-test figures are analytical assumptions, not company guidance.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/>
          <p:nvPr/>
        </p:nvSpPr>
        <p:spPr>
          <a:xfrm>
            <a:off x="0" y="0"/>
            <a:ext cx="9143771" cy="411480"/>
          </a:xfrm>
          <a:prstGeom prst="rect">
            <a:avLst/>
          </a:prstGeom>
          <a:solidFill>
            <a:srgbClr val="0E1F3D"/>
          </a:solidFill>
          <a:ln w="12700" cap="flat" cmpd="sng">
            <a:solidFill>
              <a:srgbClr val="0E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0" y="0"/>
            <a:ext cx="914377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" sz="1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CIPLA  —  IMPACT OF THE RED SEA GEOPOLITICAL CRISIS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240030" y="480060"/>
            <a:ext cx="2805607" cy="1796796"/>
          </a:xfrm>
          <a:prstGeom prst="roundRect">
            <a:avLst>
              <a:gd name="adj" fmla="val 3435"/>
            </a:avLst>
          </a:prstGeom>
          <a:solidFill>
            <a:srgbClr val="EEF2F9"/>
          </a:solidFill>
          <a:ln w="9525" cap="flat" cmpd="sng">
            <a:solidFill>
              <a:srgbClr val="DDE2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363474" y="548640"/>
            <a:ext cx="260604" cy="260604"/>
          </a:xfrm>
          <a:prstGeom prst="ellipse">
            <a:avLst/>
          </a:prstGeom>
          <a:solidFill>
            <a:srgbClr val="132A53"/>
          </a:solidFill>
          <a:ln w="12700" cap="flat" cmpd="sng">
            <a:solidFill>
              <a:srgbClr val="132A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363474" y="548640"/>
            <a:ext cx="26060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" sz="11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92658" y="521208"/>
            <a:ext cx="2229535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PRE-EVENT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92658" y="713232"/>
            <a:ext cx="2229535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lang="en" sz="8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Before Nov 2023 · Market-risk baseline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377190" y="877824"/>
            <a:ext cx="41148" cy="116586"/>
          </a:xfrm>
          <a:prstGeom prst="rect">
            <a:avLst/>
          </a:prstGeom>
          <a:solidFill>
            <a:srgbClr val="132A53"/>
          </a:solidFill>
          <a:ln w="12700" cap="flat" cmpd="sng">
            <a:solidFill>
              <a:srgbClr val="132A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473202" y="864108"/>
            <a:ext cx="2435276" cy="14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2A53"/>
              </a:buClr>
              <a:buSzPts val="800"/>
              <a:buFont typeface="Calibri"/>
              <a:buNone/>
            </a:pPr>
            <a:r>
              <a:rPr lang="en" sz="1200" b="1">
                <a:solidFill>
                  <a:srgbClr val="132A53"/>
                </a:solidFill>
                <a:latin typeface="Calibri"/>
                <a:ea typeface="Calibri"/>
                <a:cs typeface="Calibri"/>
                <a:sym typeface="Calibri"/>
              </a:rPr>
              <a:t>STOCK RISK (VS NIFTY)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77215" y="1232381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Beta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377190" y="1352466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000"/>
              <a:buFont typeface="Cambria"/>
              <a:buNone/>
            </a:pPr>
            <a:r>
              <a:rPr lang="en" sz="16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~0.31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1683982" y="1184368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Daily volatility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1683982" y="1352466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000"/>
              <a:buFont typeface="Cambria"/>
              <a:buNone/>
            </a:pPr>
            <a:r>
              <a:rPr lang="en" sz="16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1.50%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3169081" y="480060"/>
            <a:ext cx="2805608" cy="1796796"/>
          </a:xfrm>
          <a:prstGeom prst="roundRect">
            <a:avLst>
              <a:gd name="adj" fmla="val 3435"/>
            </a:avLst>
          </a:prstGeom>
          <a:solidFill>
            <a:srgbClr val="FBEAEA"/>
          </a:solidFill>
          <a:ln w="9525" cap="flat" cmpd="sng">
            <a:solidFill>
              <a:srgbClr val="DDE2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3292525" y="548640"/>
            <a:ext cx="260604" cy="260604"/>
          </a:xfrm>
          <a:prstGeom prst="ellipse">
            <a:avLst/>
          </a:prstGeom>
          <a:solidFill>
            <a:srgbClr val="A6303C"/>
          </a:solidFill>
          <a:ln w="12700" cap="flat" cmpd="sng">
            <a:solidFill>
              <a:srgbClr val="A630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3292525" y="548640"/>
            <a:ext cx="26060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" sz="11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3621710" y="521208"/>
            <a:ext cx="2229535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DURING CRISIS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3621710" y="713232"/>
            <a:ext cx="2229535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lang="en" sz="8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November 2023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306241" y="877824"/>
            <a:ext cx="41148" cy="116586"/>
          </a:xfrm>
          <a:prstGeom prst="rect">
            <a:avLst/>
          </a:prstGeom>
          <a:solidFill>
            <a:srgbClr val="A6303C"/>
          </a:solidFill>
          <a:ln w="12700" cap="flat" cmpd="sng">
            <a:solidFill>
              <a:srgbClr val="A630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3402254" y="864108"/>
            <a:ext cx="2435275" cy="14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303C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A6303C"/>
                </a:solidFill>
                <a:latin typeface="Calibri"/>
                <a:ea typeface="Calibri"/>
                <a:cs typeface="Calibri"/>
                <a:sym typeface="Calibri"/>
              </a:rPr>
              <a:t>WHAT HAPPENED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3306242" y="1001268"/>
            <a:ext cx="1224496" cy="10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Shipment delay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3306242" y="1102904"/>
            <a:ext cx="1224496" cy="16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303C"/>
              </a:buClr>
              <a:buSzPts val="1000"/>
              <a:buFont typeface="Cambria"/>
              <a:buNone/>
            </a:pPr>
            <a:r>
              <a:rPr lang="en" sz="1000" b="1">
                <a:solidFill>
                  <a:srgbClr val="A6303C"/>
                </a:solidFill>
                <a:latin typeface="Cambria"/>
                <a:ea typeface="Cambria"/>
                <a:cs typeface="Cambria"/>
                <a:sym typeface="Cambria"/>
              </a:rPr>
              <a:t>22–25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613034" y="1001268"/>
            <a:ext cx="1224496" cy="10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6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Freight cost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4613034" y="1102904"/>
            <a:ext cx="1224496" cy="16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303C"/>
              </a:buClr>
              <a:buSzPts val="1000"/>
              <a:buFont typeface="Cambria"/>
              <a:buNone/>
            </a:pPr>
            <a:r>
              <a:rPr lang="en" sz="1000" b="1">
                <a:solidFill>
                  <a:srgbClr val="A6303C"/>
                </a:solidFill>
                <a:latin typeface="Cambria"/>
                <a:ea typeface="Cambria"/>
                <a:cs typeface="Cambria"/>
                <a:sym typeface="Cambria"/>
              </a:rPr>
              <a:t>Rising ↑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3306241" y="1337310"/>
            <a:ext cx="41148" cy="116586"/>
          </a:xfrm>
          <a:prstGeom prst="rect">
            <a:avLst/>
          </a:prstGeom>
          <a:solidFill>
            <a:srgbClr val="A6303C"/>
          </a:solidFill>
          <a:ln w="12700" cap="flat" cmpd="sng">
            <a:solidFill>
              <a:srgbClr val="A630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3402254" y="1323594"/>
            <a:ext cx="2435275" cy="14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303C"/>
              </a:buClr>
              <a:buSzPts val="800"/>
              <a:buFont typeface="Calibri"/>
              <a:buNone/>
            </a:pPr>
            <a:r>
              <a:rPr lang="en" sz="1000" b="1">
                <a:solidFill>
                  <a:srgbClr val="A6303C"/>
                </a:solidFill>
                <a:latin typeface="Calibri"/>
                <a:ea typeface="Calibri"/>
                <a:cs typeface="Calibri"/>
                <a:sym typeface="Calibri"/>
              </a:rPr>
              <a:t>EVENT STUDY — CAR AT T0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3306242" y="1482219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9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Full window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3306242" y="1562390"/>
            <a:ext cx="1224496" cy="16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303C"/>
              </a:buClr>
              <a:buSzPts val="1000"/>
              <a:buFont typeface="Cambria"/>
              <a:buNone/>
            </a:pPr>
            <a:r>
              <a:rPr lang="en" sz="1300" b="1">
                <a:solidFill>
                  <a:srgbClr val="A6303C"/>
                </a:solidFill>
                <a:latin typeface="Cambria"/>
                <a:ea typeface="Cambria"/>
                <a:cs typeface="Cambria"/>
                <a:sym typeface="Cambria"/>
              </a:rPr>
              <a:t>−5.13%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613034" y="1460754"/>
            <a:ext cx="1224496" cy="10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Excl. FDA day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4613034" y="1562390"/>
            <a:ext cx="1224496" cy="16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303C"/>
              </a:buClr>
              <a:buSzPts val="1000"/>
              <a:buFont typeface="Cambria"/>
              <a:buNone/>
            </a:pPr>
            <a:r>
              <a:rPr lang="en" sz="1300" b="1">
                <a:solidFill>
                  <a:srgbClr val="A6303C"/>
                </a:solidFill>
                <a:latin typeface="Cambria"/>
                <a:ea typeface="Cambria"/>
                <a:cs typeface="Cambria"/>
                <a:sym typeface="Cambria"/>
              </a:rPr>
              <a:t>+2.80%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3306241" y="1796796"/>
            <a:ext cx="2531288" cy="425196"/>
          </a:xfrm>
          <a:prstGeom prst="roundRect">
            <a:avLst>
              <a:gd name="adj" fmla="val 9677"/>
            </a:avLst>
          </a:prstGeom>
          <a:solidFill>
            <a:srgbClr val="FBF1DE"/>
          </a:solidFill>
          <a:ln w="9525" cap="flat" cmpd="sng">
            <a:solidFill>
              <a:srgbClr val="DDE2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3374822" y="1796796"/>
            <a:ext cx="2394128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lang="en" sz="900" i="1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23-Nov's −7.74% move was confounded by separate USFDA news, not Red Sea exposure.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6098134" y="480060"/>
            <a:ext cx="2805600" cy="1796700"/>
          </a:xfrm>
          <a:prstGeom prst="roundRect">
            <a:avLst>
              <a:gd name="adj" fmla="val 3435"/>
            </a:avLst>
          </a:prstGeom>
          <a:solidFill>
            <a:srgbClr val="E7F3ED"/>
          </a:solidFill>
          <a:ln w="9525" cap="flat" cmpd="sng">
            <a:solidFill>
              <a:srgbClr val="DDE2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6221578" y="548640"/>
            <a:ext cx="260604" cy="260604"/>
          </a:xfrm>
          <a:prstGeom prst="ellipse">
            <a:avLst/>
          </a:prstGeom>
          <a:solidFill>
            <a:srgbClr val="1F7A54"/>
          </a:solidFill>
          <a:ln w="12700" cap="flat" cmpd="sng">
            <a:solidFill>
              <a:srgbClr val="1F7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6221578" y="548640"/>
            <a:ext cx="260604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lang="en" sz="11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6550762" y="521208"/>
            <a:ext cx="2229535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POST-EVENT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6550762" y="713232"/>
            <a:ext cx="2229535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lang="en" sz="8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After Nov 2023 · Recovery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235294" y="877824"/>
            <a:ext cx="41148" cy="116586"/>
          </a:xfrm>
          <a:prstGeom prst="rect">
            <a:avLst/>
          </a:prstGeom>
          <a:solidFill>
            <a:srgbClr val="1F7A54"/>
          </a:solidFill>
          <a:ln w="12700" cap="flat" cmpd="sng">
            <a:solidFill>
              <a:srgbClr val="1F7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6331306" y="864108"/>
            <a:ext cx="2435275" cy="14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54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1F7A54"/>
                </a:solidFill>
                <a:latin typeface="Calibri"/>
                <a:ea typeface="Calibri"/>
                <a:cs typeface="Calibri"/>
                <a:sym typeface="Calibri"/>
              </a:rPr>
              <a:t>STOCK RETURN SINCE EVENT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6235194" y="1120931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 Month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6235194" y="1222566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54"/>
              </a:buClr>
              <a:buSzPts val="1000"/>
              <a:buFont typeface="Cambria"/>
              <a:buNone/>
            </a:pPr>
            <a:r>
              <a:rPr lang="en" sz="1500" b="1">
                <a:solidFill>
                  <a:srgbClr val="1F7A54"/>
                </a:solidFill>
                <a:latin typeface="Cambria"/>
                <a:ea typeface="Cambria"/>
                <a:cs typeface="Cambria"/>
                <a:sym typeface="Cambria"/>
              </a:rPr>
              <a:t>−0.86%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7541986" y="1120931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 Months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7541986" y="1222566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54"/>
              </a:buClr>
              <a:buSzPts val="1000"/>
              <a:buFont typeface="Cambria"/>
              <a:buNone/>
            </a:pPr>
            <a:r>
              <a:rPr lang="en" sz="1500" b="1">
                <a:solidFill>
                  <a:srgbClr val="1F7A54"/>
                </a:solidFill>
                <a:latin typeface="Cambria"/>
                <a:ea typeface="Cambria"/>
                <a:cs typeface="Cambria"/>
                <a:sym typeface="Cambria"/>
              </a:rPr>
              <a:t>+16.12%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235194" y="1501280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 Months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235194" y="1602915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54"/>
              </a:buClr>
              <a:buSzPts val="1000"/>
              <a:buFont typeface="Cambria"/>
              <a:buNone/>
            </a:pPr>
            <a:r>
              <a:rPr lang="en" sz="1500" b="1">
                <a:solidFill>
                  <a:srgbClr val="1F7A54"/>
                </a:solidFill>
                <a:latin typeface="Cambria"/>
                <a:ea typeface="Cambria"/>
                <a:cs typeface="Cambria"/>
                <a:sym typeface="Cambria"/>
              </a:rPr>
              <a:t>+15.56%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7541986" y="1501280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 Year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7541986" y="1602915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54"/>
              </a:buClr>
              <a:buSzPts val="1000"/>
              <a:buFont typeface="Cambria"/>
              <a:buNone/>
            </a:pPr>
            <a:r>
              <a:rPr lang="en" sz="1500" b="1">
                <a:solidFill>
                  <a:srgbClr val="1F7A54"/>
                </a:solidFill>
                <a:latin typeface="Cambria"/>
                <a:ea typeface="Cambria"/>
                <a:cs typeface="Cambria"/>
                <a:sym typeface="Cambria"/>
              </a:rPr>
              <a:t>+19.77%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7542086" y="1899666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EBITDA margin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7542086" y="2001302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54"/>
              </a:buClr>
              <a:buSzPts val="1000"/>
              <a:buFont typeface="Cambria"/>
              <a:buNone/>
            </a:pPr>
            <a:r>
              <a:rPr lang="en" b="1">
                <a:solidFill>
                  <a:srgbClr val="1F7A54"/>
                </a:solidFill>
                <a:latin typeface="Cambria"/>
                <a:ea typeface="Cambria"/>
                <a:cs typeface="Cambria"/>
                <a:sym typeface="Cambria"/>
              </a:rPr>
              <a:t>24.4%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240030" y="2331720"/>
            <a:ext cx="8663711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lang="en" sz="7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Estimation period: 10-Nov-2022 to 10-Nov-2023   •   Exposure proxy: ~26% of FY24 revenue treated as directly exposed to the Africa / Europe corridor.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240030" y="2523744"/>
            <a:ext cx="483489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STRESS TEST — FREIGHT COST SHOCK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240030" y="2722626"/>
            <a:ext cx="483489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lang="en" sz="7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Scenario: freight/logistics cost shock applied only to the ~26% exposed revenue.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21"/>
          <p:cNvGraphicFramePr/>
          <p:nvPr/>
        </p:nvGraphicFramePr>
        <p:xfrm>
          <a:off x="240030" y="2900934"/>
          <a:ext cx="4834875" cy="1368150"/>
        </p:xfrm>
        <a:graphic>
          <a:graphicData uri="http://schemas.openxmlformats.org/drawingml/2006/table">
            <a:tbl>
              <a:tblPr>
                <a:noFill/>
                <a:tableStyleId>{1337B611-F349-4DFB-87B7-DE57A7845E1B}</a:tableStyleId>
              </a:tblPr>
              <a:tblGrid>
                <a:gridCol w="161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A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</a:rPr>
                        <a:t>Base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A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</a:rPr>
                        <a:t>Moderate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2A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FFFFFF"/>
                          </a:solidFill>
                        </a:rPr>
                        <a:t>Severe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82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1B1F2B"/>
                          </a:solidFill>
                        </a:rPr>
                        <a:t>Freight increase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0%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+30%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0E1F3D"/>
                          </a:solidFill>
                        </a:rPr>
                        <a:t>+100%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1B1F2B"/>
                          </a:solidFill>
                        </a:rPr>
                        <a:t>Incremental freight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—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₹40.2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0E1F3D"/>
                          </a:solidFill>
                        </a:rPr>
                        <a:t>₹134.0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1B1F2B"/>
                          </a:solidFill>
                        </a:rPr>
                        <a:t>EBITDA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₹6,291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₹6,250.8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0E1F3D"/>
                          </a:solidFill>
                        </a:rPr>
                        <a:t>₹6,157.0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1B1F2B"/>
                          </a:solidFill>
                        </a:rPr>
                        <a:t>EBITDA Margin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24.40%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24.25%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0E1F3D"/>
                          </a:solidFill>
                        </a:rPr>
                        <a:t>23.89%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1B1F2B"/>
                          </a:solidFill>
                        </a:rPr>
                        <a:t>PAT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₹4,122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₹4,091.8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0E1F3D"/>
                          </a:solidFill>
                        </a:rPr>
                        <a:t>₹4,021.5 Cr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>
                          <a:solidFill>
                            <a:srgbClr val="1B1F2B"/>
                          </a:solidFill>
                        </a:rPr>
                        <a:t>PAT Margin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 dirty="0">
                          <a:solidFill>
                            <a:srgbClr val="1B1F2B"/>
                          </a:solidFill>
                        </a:rPr>
                        <a:t>16.00%</a:t>
                      </a:r>
                      <a:endParaRPr sz="800" u="none" strike="noStrike" cap="none" dirty="0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B1F2B"/>
                          </a:solidFill>
                        </a:rPr>
                        <a:t>15.88%</a:t>
                      </a:r>
                      <a:endParaRPr sz="800" u="none" strike="noStrike" cap="none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F3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b="1" u="none" strike="noStrike" cap="none" dirty="0">
                          <a:solidFill>
                            <a:srgbClr val="0E1F3D"/>
                          </a:solidFill>
                        </a:rPr>
                        <a:t>15.60%</a:t>
                      </a:r>
                      <a:endParaRPr sz="800" u="none" strike="noStrike" cap="none" dirty="0"/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2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5" name="Google Shape;355;p21"/>
          <p:cNvSpPr txBox="1"/>
          <p:nvPr/>
        </p:nvSpPr>
        <p:spPr>
          <a:xfrm>
            <a:off x="5212080" y="2523744"/>
            <a:ext cx="3691661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RISK MITIGATION &amp; RECOMMENDATIONS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5212080" y="2880360"/>
            <a:ext cx="1790967" cy="1481328"/>
          </a:xfrm>
          <a:prstGeom prst="roundRect">
            <a:avLst>
              <a:gd name="adj" fmla="val 4167"/>
            </a:avLst>
          </a:prstGeom>
          <a:solidFill>
            <a:srgbClr val="E7F3ED"/>
          </a:solidFill>
          <a:ln w="9525" cap="flat" cmpd="sng">
            <a:solidFill>
              <a:srgbClr val="DDE2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 txBox="1"/>
          <p:nvPr/>
        </p:nvSpPr>
        <p:spPr>
          <a:xfrm>
            <a:off x="5308092" y="2942082"/>
            <a:ext cx="1598943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54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1F7A54"/>
                </a:solidFill>
                <a:latin typeface="Calibri"/>
                <a:ea typeface="Calibri"/>
                <a:cs typeface="Calibri"/>
                <a:sym typeface="Calibri"/>
              </a:rPr>
              <a:t>CIPLA ALREADY DOES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5308092" y="3235604"/>
            <a:ext cx="68580" cy="68580"/>
          </a:xfrm>
          <a:prstGeom prst="ellipse">
            <a:avLst/>
          </a:prstGeom>
          <a:solidFill>
            <a:srgbClr val="1F7A54"/>
          </a:solidFill>
          <a:ln w="12700" cap="flat" cmpd="sng">
            <a:solidFill>
              <a:srgbClr val="1F7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5431536" y="3154680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Alternate sourcing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5308092" y="3466034"/>
            <a:ext cx="68580" cy="68580"/>
          </a:xfrm>
          <a:prstGeom prst="ellipse">
            <a:avLst/>
          </a:prstGeom>
          <a:solidFill>
            <a:srgbClr val="1F7A54"/>
          </a:solidFill>
          <a:ln w="12700" cap="flat" cmpd="sng">
            <a:solidFill>
              <a:srgbClr val="1F7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1"/>
          <p:cNvSpPr txBox="1"/>
          <p:nvPr/>
        </p:nvSpPr>
        <p:spPr>
          <a:xfrm>
            <a:off x="5431536" y="3385109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Advance purchases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5308092" y="3696462"/>
            <a:ext cx="68580" cy="68580"/>
          </a:xfrm>
          <a:prstGeom prst="ellipse">
            <a:avLst/>
          </a:prstGeom>
          <a:solidFill>
            <a:srgbClr val="1F7A54"/>
          </a:solidFill>
          <a:ln w="12700" cap="flat" cmpd="sng">
            <a:solidFill>
              <a:srgbClr val="1F7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5431536" y="3615538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Inventory &amp; logistics buffers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5308092" y="3926891"/>
            <a:ext cx="68580" cy="68580"/>
          </a:xfrm>
          <a:prstGeom prst="ellipse">
            <a:avLst/>
          </a:prstGeom>
          <a:solidFill>
            <a:srgbClr val="1F7A54"/>
          </a:solidFill>
          <a:ln w="12700" cap="flat" cmpd="sng">
            <a:solidFill>
              <a:srgbClr val="1F7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5431536" y="3845966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₹1,428 Cr revenue de-risked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5308092" y="4157320"/>
            <a:ext cx="68580" cy="68580"/>
          </a:xfrm>
          <a:prstGeom prst="ellipse">
            <a:avLst/>
          </a:prstGeom>
          <a:solidFill>
            <a:srgbClr val="1F7A54"/>
          </a:solidFill>
          <a:ln w="12700" cap="flat" cmpd="sng">
            <a:solidFill>
              <a:srgbClr val="1F7A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5431536" y="4076396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18 new vendors in FY25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7112775" y="2880360"/>
            <a:ext cx="1790967" cy="1481328"/>
          </a:xfrm>
          <a:prstGeom prst="roundRect">
            <a:avLst>
              <a:gd name="adj" fmla="val 4167"/>
            </a:avLst>
          </a:prstGeom>
          <a:solidFill>
            <a:srgbClr val="FBF1DE"/>
          </a:solidFill>
          <a:ln w="9525" cap="flat" cmpd="sng">
            <a:solidFill>
              <a:srgbClr val="DDE2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7208787" y="2942082"/>
            <a:ext cx="1598943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822E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B9822E"/>
                </a:solidFill>
                <a:latin typeface="Calibri"/>
                <a:ea typeface="Calibri"/>
                <a:cs typeface="Calibri"/>
                <a:sym typeface="Calibri"/>
              </a:rPr>
              <a:t>OUR RECOMMENDATIONS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7208787" y="3235604"/>
            <a:ext cx="68580" cy="68580"/>
          </a:xfrm>
          <a:prstGeom prst="ellipse">
            <a:avLst/>
          </a:prstGeom>
          <a:solidFill>
            <a:srgbClr val="B9822E"/>
          </a:solidFill>
          <a:ln w="12700" cap="flat" cmpd="sng">
            <a:solidFill>
              <a:srgbClr val="B98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7332231" y="3154680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Long-term freight contracts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7208787" y="3466034"/>
            <a:ext cx="68580" cy="68580"/>
          </a:xfrm>
          <a:prstGeom prst="ellipse">
            <a:avLst/>
          </a:prstGeom>
          <a:solidFill>
            <a:srgbClr val="B9822E"/>
          </a:solidFill>
          <a:ln w="12700" cap="flat" cmpd="sng">
            <a:solidFill>
              <a:srgbClr val="B98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1"/>
          <p:cNvSpPr txBox="1"/>
          <p:nvPr/>
        </p:nvSpPr>
        <p:spPr>
          <a:xfrm>
            <a:off x="7332231" y="3385109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Higher Africa/Europe safety stock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7208787" y="3696462"/>
            <a:ext cx="68580" cy="68580"/>
          </a:xfrm>
          <a:prstGeom prst="ellipse">
            <a:avLst/>
          </a:prstGeom>
          <a:solidFill>
            <a:srgbClr val="B9822E"/>
          </a:solidFill>
          <a:ln w="12700" cap="flat" cmpd="sng">
            <a:solidFill>
              <a:srgbClr val="B98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7332231" y="3615538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Further API diversification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7208787" y="3926891"/>
            <a:ext cx="68580" cy="68580"/>
          </a:xfrm>
          <a:prstGeom prst="ellipse">
            <a:avLst/>
          </a:prstGeom>
          <a:solidFill>
            <a:srgbClr val="B9822E"/>
          </a:solidFill>
          <a:ln w="12700" cap="flat" cmpd="sng">
            <a:solidFill>
              <a:srgbClr val="B98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1"/>
          <p:cNvSpPr txBox="1"/>
          <p:nvPr/>
        </p:nvSpPr>
        <p:spPr>
          <a:xfrm>
            <a:off x="7332231" y="3845966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FX &amp; working-capital protection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7208787" y="4157320"/>
            <a:ext cx="68580" cy="68580"/>
          </a:xfrm>
          <a:prstGeom prst="ellipse">
            <a:avLst/>
          </a:prstGeom>
          <a:solidFill>
            <a:srgbClr val="B9822E"/>
          </a:solidFill>
          <a:ln w="12700" cap="flat" cmpd="sng">
            <a:solidFill>
              <a:srgbClr val="B982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7332231" y="4076396"/>
            <a:ext cx="1475499" cy="230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Alternate routes / air freight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0" y="4443984"/>
            <a:ext cx="9143771" cy="685800"/>
          </a:xfrm>
          <a:prstGeom prst="rect">
            <a:avLst/>
          </a:prstGeom>
          <a:solidFill>
            <a:srgbClr val="0E1F3D"/>
          </a:solidFill>
          <a:ln w="12700" cap="flat" cmpd="sng">
            <a:solidFill>
              <a:srgbClr val="0E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85482" y="4443984"/>
            <a:ext cx="586359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3B968"/>
              </a:buClr>
              <a:buSzPts val="800"/>
              <a:buFont typeface="Calibri"/>
              <a:buNone/>
            </a:pPr>
            <a:r>
              <a:rPr lang="en" sz="800" b="1" dirty="0">
                <a:solidFill>
                  <a:srgbClr val="E3B968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br>
              <a:rPr lang="en" sz="800" b="1" dirty="0">
                <a:solidFill>
                  <a:srgbClr val="E3B96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logistics pressure, but Cipla's diversified revenue base and mitigation measures contained the overall impact.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6103620" y="4526280"/>
            <a:ext cx="8230" cy="521208"/>
          </a:xfrm>
          <a:prstGeom prst="rect">
            <a:avLst/>
          </a:prstGeom>
          <a:solidFill>
            <a:srgbClr val="3A4E77"/>
          </a:solidFill>
          <a:ln w="12700" cap="flat" cmpd="sng">
            <a:solidFill>
              <a:srgbClr val="3A4E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6343650" y="4505706"/>
            <a:ext cx="2457221" cy="12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2D6"/>
              </a:buClr>
              <a:buSzPts val="600"/>
              <a:buFont typeface="Calibri"/>
              <a:buNone/>
            </a:pPr>
            <a:r>
              <a:rPr lang="en" sz="600" b="1">
                <a:solidFill>
                  <a:srgbClr val="9FB2D6"/>
                </a:solidFill>
                <a:latin typeface="Calibri"/>
                <a:ea typeface="Calibri"/>
                <a:cs typeface="Calibri"/>
                <a:sym typeface="Calibri"/>
              </a:rPr>
              <a:t>OVERALL RISK — POST-MITIGATION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6343650" y="4649724"/>
            <a:ext cx="630936" cy="630936"/>
          </a:xfrm>
          <a:prstGeom prst="blockArc">
            <a:avLst>
              <a:gd name="adj1" fmla="val 10800000"/>
              <a:gd name="adj2" fmla="val 14400000"/>
              <a:gd name="adj3" fmla="val 21000"/>
            </a:avLst>
          </a:prstGeom>
          <a:solidFill>
            <a:srgbClr val="3FA87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343650" y="4649724"/>
            <a:ext cx="630936" cy="630936"/>
          </a:xfrm>
          <a:prstGeom prst="blockArc">
            <a:avLst>
              <a:gd name="adj1" fmla="val 14400000"/>
              <a:gd name="adj2" fmla="val 18000000"/>
              <a:gd name="adj3" fmla="val 21000"/>
            </a:avLst>
          </a:prstGeom>
          <a:solidFill>
            <a:srgbClr val="E0A83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6343650" y="4649724"/>
            <a:ext cx="630936" cy="630936"/>
          </a:xfrm>
          <a:prstGeom prst="blockArc">
            <a:avLst>
              <a:gd name="adj1" fmla="val 18000000"/>
              <a:gd name="adj2" fmla="val 21600000"/>
              <a:gd name="adj3" fmla="val 21000"/>
            </a:avLst>
          </a:prstGeom>
          <a:solidFill>
            <a:srgbClr val="C24B4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7" name="Google Shape;387;p21"/>
          <p:cNvCxnSpPr/>
          <p:nvPr/>
        </p:nvCxnSpPr>
        <p:spPr>
          <a:xfrm>
            <a:off x="6493976" y="4860389"/>
            <a:ext cx="165142" cy="104803"/>
          </a:xfrm>
          <a:prstGeom prst="straightConnector1">
            <a:avLst/>
          </a:prstGeom>
          <a:noFill/>
          <a:ln w="28575" cap="flat" cmpd="sng">
            <a:solidFill>
              <a:srgbClr val="0E1F3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8" name="Google Shape;388;p21"/>
          <p:cNvSpPr/>
          <p:nvPr/>
        </p:nvSpPr>
        <p:spPr>
          <a:xfrm>
            <a:off x="6621399" y="4927473"/>
            <a:ext cx="75438" cy="7543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0E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6309360" y="4992624"/>
            <a:ext cx="210312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B9F"/>
              </a:buClr>
              <a:buSzPts val="500"/>
              <a:buFont typeface="Calibri"/>
              <a:buNone/>
            </a:pPr>
            <a:r>
              <a:rPr lang="en" sz="500" b="1">
                <a:solidFill>
                  <a:srgbClr val="6FCB9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6798564" y="4992624"/>
            <a:ext cx="210312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38B8B"/>
              </a:buClr>
              <a:buSzPts val="500"/>
              <a:buFont typeface="Calibri"/>
              <a:buNone/>
            </a:pPr>
            <a:r>
              <a:rPr lang="en" sz="500" b="1">
                <a:solidFill>
                  <a:srgbClr val="E38B8B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25462" y="4608576"/>
            <a:ext cx="1675409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CB9F"/>
              </a:buClr>
              <a:buSzPts val="1800"/>
              <a:buFont typeface="Cambria"/>
              <a:buNone/>
            </a:pPr>
            <a:r>
              <a:rPr lang="en" sz="1800" b="1">
                <a:solidFill>
                  <a:srgbClr val="6FCB9F"/>
                </a:solidFill>
                <a:latin typeface="Cambria"/>
                <a:ea typeface="Cambria"/>
                <a:cs typeface="Cambria"/>
                <a:sym typeface="Cambria"/>
              </a:rPr>
              <a:t>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7125462" y="4882896"/>
            <a:ext cx="167540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EDD"/>
              </a:buClr>
              <a:buSzPts val="600"/>
              <a:buFont typeface="Calibri"/>
              <a:buNone/>
            </a:pPr>
            <a:r>
              <a:rPr lang="en" sz="600" i="1">
                <a:solidFill>
                  <a:srgbClr val="AEBEDD"/>
                </a:solidFill>
                <a:latin typeface="Calibri"/>
                <a:ea typeface="Calibri"/>
                <a:cs typeface="Calibri"/>
                <a:sym typeface="Calibri"/>
              </a:rPr>
              <a:t>Diversified revenue base absorbs the shock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377100" y="1849260"/>
            <a:ext cx="1224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Annualised volatility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377127" y="2017703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000"/>
              <a:buFont typeface="Cambria"/>
              <a:buNone/>
            </a:pPr>
            <a:r>
              <a:rPr lang="en" sz="15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23.80%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1683982" y="1762505"/>
            <a:ext cx="1224600" cy="1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Alpha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1683882" y="2017703"/>
            <a:ext cx="12246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F3D"/>
              </a:buClr>
              <a:buSzPts val="1000"/>
              <a:buFont typeface="Cambria"/>
              <a:buNone/>
            </a:pPr>
            <a:r>
              <a:rPr lang="en" sz="1600" b="1">
                <a:solidFill>
                  <a:srgbClr val="0E1F3D"/>
                </a:solidFill>
                <a:latin typeface="Cambria"/>
                <a:ea typeface="Cambria"/>
                <a:cs typeface="Cambria"/>
                <a:sym typeface="Cambria"/>
              </a:rPr>
              <a:t>~0.048%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"/>
          <p:cNvSpPr txBox="1"/>
          <p:nvPr/>
        </p:nvSpPr>
        <p:spPr>
          <a:xfrm>
            <a:off x="240030" y="109728"/>
            <a:ext cx="8641080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lang="en" sz="19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ZYDUS LIFESCIENCES — RED SEA CRISIS IMPACT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240030" y="432054"/>
            <a:ext cx="864108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1000"/>
              <a:buFont typeface="Calibri"/>
              <a:buNone/>
            </a:pPr>
            <a:r>
              <a:rPr lang="en" sz="1000" b="1" i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A supply chain shock, a short-term market reaction, but resilient fundamentals.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22"/>
          <p:cNvCxnSpPr/>
          <p:nvPr/>
        </p:nvCxnSpPr>
        <p:spPr>
          <a:xfrm>
            <a:off x="240030" y="672084"/>
            <a:ext cx="8661654" cy="0"/>
          </a:xfrm>
          <a:prstGeom prst="straightConnector1">
            <a:avLst/>
          </a:prstGeom>
          <a:noFill/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5" name="Google Shape;405;p22"/>
          <p:cNvSpPr/>
          <p:nvPr/>
        </p:nvSpPr>
        <p:spPr>
          <a:xfrm>
            <a:off x="240030" y="781812"/>
            <a:ext cx="2805607" cy="243459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240030" y="781812"/>
            <a:ext cx="2805607" cy="466344"/>
          </a:xfrm>
          <a:prstGeom prst="roundRect">
            <a:avLst>
              <a:gd name="adj" fmla="val 10294"/>
            </a:avLst>
          </a:prstGeom>
          <a:solidFill>
            <a:srgbClr val="F5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240030" y="1014984"/>
            <a:ext cx="2805607" cy="233172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329184" y="857250"/>
            <a:ext cx="315468" cy="3154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329184" y="857250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06374" y="870966"/>
            <a:ext cx="2229536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PRE-EVENT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06374" y="1069848"/>
            <a:ext cx="222953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Before Nov 2023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3169081" y="781812"/>
            <a:ext cx="2805608" cy="243459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3169081" y="781812"/>
            <a:ext cx="2805608" cy="466344"/>
          </a:xfrm>
          <a:prstGeom prst="roundRect">
            <a:avLst>
              <a:gd name="adj" fmla="val 10294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3169081" y="1014984"/>
            <a:ext cx="2805608" cy="233172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2"/>
          <p:cNvSpPr/>
          <p:nvPr/>
        </p:nvSpPr>
        <p:spPr>
          <a:xfrm>
            <a:off x="3258236" y="857250"/>
            <a:ext cx="315468" cy="315468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3258236" y="857250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3635425" y="870966"/>
            <a:ext cx="2229536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B23A2E"/>
                </a:solidFill>
                <a:latin typeface="Cambria"/>
                <a:ea typeface="Cambria"/>
                <a:cs typeface="Cambria"/>
                <a:sym typeface="Cambria"/>
              </a:rPr>
              <a:t>DURING CRISIS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3635425" y="1069848"/>
            <a:ext cx="222953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Nov 2023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6098134" y="781812"/>
            <a:ext cx="2805607" cy="243459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6098134" y="781812"/>
            <a:ext cx="2805607" cy="466344"/>
          </a:xfrm>
          <a:prstGeom prst="roundRect">
            <a:avLst>
              <a:gd name="adj" fmla="val 10294"/>
            </a:avLst>
          </a:prstGeom>
          <a:solidFill>
            <a:srgbClr val="E7F5E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6098134" y="1014984"/>
            <a:ext cx="2805607" cy="233172"/>
          </a:xfrm>
          <a:prstGeom prst="rect">
            <a:avLst/>
          </a:prstGeom>
          <a:solidFill>
            <a:srgbClr val="E7F5E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6187288" y="857250"/>
            <a:ext cx="315468" cy="315468"/>
          </a:xfrm>
          <a:prstGeom prst="ellipse">
            <a:avLst/>
          </a:prstGeom>
          <a:solidFill>
            <a:srgbClr val="1F7A4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6187288" y="857250"/>
            <a:ext cx="315468" cy="3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6564478" y="870966"/>
            <a:ext cx="2229535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1200"/>
              <a:buFont typeface="Cambria"/>
              <a:buNone/>
            </a:pPr>
            <a:r>
              <a:rPr lang="en" sz="1200" b="1">
                <a:solidFill>
                  <a:srgbClr val="1F7A4D"/>
                </a:solidFill>
                <a:latin typeface="Cambria"/>
                <a:ea typeface="Cambria"/>
                <a:cs typeface="Cambria"/>
                <a:sym typeface="Cambria"/>
              </a:rPr>
              <a:t>POST-EVENT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6564478" y="1069848"/>
            <a:ext cx="2229535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After Nov 2023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390906" y="1357884"/>
            <a:ext cx="2503855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Strong fundamentals, diversified sourcing, low leverage.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22"/>
          <p:cNvCxnSpPr/>
          <p:nvPr/>
        </p:nvCxnSpPr>
        <p:spPr>
          <a:xfrm>
            <a:off x="390906" y="1844802"/>
            <a:ext cx="2503855" cy="0"/>
          </a:xfrm>
          <a:prstGeom prst="straightConnector1">
            <a:avLst/>
          </a:prstGeom>
          <a:noFill/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8" name="Google Shape;428;p22"/>
          <p:cNvSpPr/>
          <p:nvPr/>
        </p:nvSpPr>
        <p:spPr>
          <a:xfrm>
            <a:off x="384048" y="1947672"/>
            <a:ext cx="288036" cy="288036"/>
          </a:xfrm>
          <a:prstGeom prst="ellipse">
            <a:avLst/>
          </a:prstGeom>
          <a:solidFill>
            <a:srgbClr val="F5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384048" y="1947672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747522" y="1913382"/>
            <a:ext cx="13654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" sz="1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2119807" y="1913382"/>
            <a:ext cx="77495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0.55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22"/>
          <p:cNvCxnSpPr/>
          <p:nvPr/>
        </p:nvCxnSpPr>
        <p:spPr>
          <a:xfrm>
            <a:off x="390906" y="2352294"/>
            <a:ext cx="2503855" cy="0"/>
          </a:xfrm>
          <a:prstGeom prst="straightConnector1">
            <a:avLst/>
          </a:prstGeom>
          <a:noFill/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3" name="Google Shape;433;p22"/>
          <p:cNvSpPr/>
          <p:nvPr/>
        </p:nvSpPr>
        <p:spPr>
          <a:xfrm>
            <a:off x="384048" y="2455164"/>
            <a:ext cx="288036" cy="288036"/>
          </a:xfrm>
          <a:prstGeom prst="ellipse">
            <a:avLst/>
          </a:prstGeom>
          <a:solidFill>
            <a:srgbClr val="F5F7F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384048" y="2455164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747522" y="2420874"/>
            <a:ext cx="13654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" sz="10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Annualised Volatility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2119807" y="2420874"/>
            <a:ext cx="77495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24.76%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22"/>
          <p:cNvCxnSpPr/>
          <p:nvPr/>
        </p:nvCxnSpPr>
        <p:spPr>
          <a:xfrm>
            <a:off x="390906" y="2859786"/>
            <a:ext cx="2503855" cy="0"/>
          </a:xfrm>
          <a:prstGeom prst="straightConnector1">
            <a:avLst/>
          </a:prstGeom>
          <a:noFill/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" name="Google Shape;438;p22"/>
          <p:cNvSpPr txBox="1"/>
          <p:nvPr/>
        </p:nvSpPr>
        <p:spPr>
          <a:xfrm>
            <a:off x="390906" y="2955798"/>
            <a:ext cx="25038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Mitigation: domestic sourcing &amp; safety stock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3319957" y="1357884"/>
            <a:ext cx="2503855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900"/>
              <a:buFont typeface="Calibri"/>
              <a:buNone/>
            </a:pPr>
            <a:r>
              <a:rPr lang="en" sz="11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Logistics costs and investor uncertainty triggered a temporary stock reaction.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3319957" y="1810512"/>
            <a:ext cx="1197064" cy="493776"/>
          </a:xfrm>
          <a:prstGeom prst="roundRect">
            <a:avLst>
              <a:gd name="adj" fmla="val 9722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3319957" y="1879092"/>
            <a:ext cx="1197064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B23A2E"/>
                </a:solidFill>
                <a:latin typeface="Calibri"/>
                <a:ea typeface="Calibri"/>
                <a:cs typeface="Calibri"/>
                <a:sym typeface="Calibri"/>
              </a:rPr>
              <a:t>22–25 days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3319957" y="2112264"/>
            <a:ext cx="11970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E22"/>
              </a:buClr>
              <a:buSzPts val="600"/>
              <a:buFont typeface="Calibri"/>
              <a:buNone/>
            </a:pPr>
            <a:r>
              <a:rPr lang="en" sz="600" b="1">
                <a:solidFill>
                  <a:srgbClr val="7A2E22"/>
                </a:solidFill>
                <a:latin typeface="Calibri"/>
                <a:ea typeface="Calibri"/>
                <a:cs typeface="Calibri"/>
                <a:sym typeface="Calibri"/>
              </a:rPr>
              <a:t>Shipment Delay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4626750" y="1810512"/>
            <a:ext cx="1197064" cy="493776"/>
          </a:xfrm>
          <a:prstGeom prst="roundRect">
            <a:avLst>
              <a:gd name="adj" fmla="val 9722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4626750" y="1879092"/>
            <a:ext cx="1197064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B23A2E"/>
                </a:solidFill>
                <a:latin typeface="Calibri"/>
                <a:ea typeface="Calibri"/>
                <a:cs typeface="Calibri"/>
                <a:sym typeface="Calibri"/>
              </a:rPr>
              <a:t>Freight ↑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4626750" y="2112264"/>
            <a:ext cx="11970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E22"/>
              </a:buClr>
              <a:buSzPts val="600"/>
              <a:buFont typeface="Calibri"/>
              <a:buNone/>
            </a:pPr>
            <a:r>
              <a:rPr lang="en" sz="600" b="1">
                <a:solidFill>
                  <a:srgbClr val="7A2E22"/>
                </a:solidFill>
                <a:latin typeface="Calibri"/>
                <a:ea typeface="Calibri"/>
                <a:cs typeface="Calibri"/>
                <a:sym typeface="Calibri"/>
              </a:rPr>
              <a:t>Costs Increased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3319957" y="2400300"/>
            <a:ext cx="2503855" cy="589788"/>
          </a:xfrm>
          <a:prstGeom prst="roundRect">
            <a:avLst>
              <a:gd name="adj" fmla="val 8140"/>
            </a:avLst>
          </a:prstGeom>
          <a:solidFill>
            <a:srgbClr val="FBEAE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2"/>
          <p:cNvSpPr txBox="1"/>
          <p:nvPr/>
        </p:nvSpPr>
        <p:spPr>
          <a:xfrm>
            <a:off x="3402253" y="2462022"/>
            <a:ext cx="233926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700"/>
              <a:buFont typeface="Calibri"/>
              <a:buNone/>
            </a:pPr>
            <a:r>
              <a:rPr lang="en" sz="1100" b="1">
                <a:solidFill>
                  <a:srgbClr val="B23A2E"/>
                </a:solidFill>
                <a:latin typeface="Calibri"/>
                <a:ea typeface="Calibri"/>
                <a:cs typeface="Calibri"/>
                <a:sym typeface="Calibri"/>
              </a:rPr>
              <a:t>EVENT STUDY (CAR)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3319950" y="2647209"/>
            <a:ext cx="1251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600"/>
              <a:buFont typeface="Calibri"/>
              <a:buNone/>
            </a:pPr>
            <a:r>
              <a:rPr lang="en" sz="15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Event Period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>
            <a:off x="4445975" y="2616315"/>
            <a:ext cx="12519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1100"/>
              <a:buFont typeface="Calibri"/>
              <a:buNone/>
            </a:pPr>
            <a:r>
              <a:rPr lang="en" sz="2000" b="1">
                <a:solidFill>
                  <a:srgbClr val="B23A2E"/>
                </a:solidFill>
                <a:latin typeface="Calibri"/>
                <a:ea typeface="Calibri"/>
                <a:cs typeface="Calibri"/>
                <a:sym typeface="Calibri"/>
              </a:rPr>
              <a:t>-2.56%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6249010" y="1357884"/>
            <a:ext cx="2503855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900"/>
              <a:buFont typeface="Calibri"/>
              <a:buNone/>
            </a:pPr>
            <a:r>
              <a:rPr lang="en" sz="12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Stock recovered; fundamentals strengthened.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6249010" y="1810512"/>
            <a:ext cx="2503855" cy="17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STOCK PERFORMANCE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6249010" y="2016252"/>
            <a:ext cx="1251928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1400"/>
              <a:buFont typeface="Calibri"/>
              <a:buNone/>
            </a:pPr>
            <a:r>
              <a:rPr lang="en" sz="14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+40.7%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6249010" y="2276856"/>
            <a:ext cx="125192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600"/>
              <a:buFont typeface="Calibri"/>
              <a:buNone/>
            </a:pPr>
            <a:r>
              <a:rPr lang="en" sz="6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3 Months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7500938" y="2016252"/>
            <a:ext cx="1251928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1400"/>
              <a:buFont typeface="Calibri"/>
              <a:buNone/>
            </a:pPr>
            <a:r>
              <a:rPr lang="en" sz="14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+49.4%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>
            <a:off x="7500938" y="2276856"/>
            <a:ext cx="125192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600"/>
              <a:buFont typeface="Calibri"/>
              <a:buNone/>
            </a:pPr>
            <a:r>
              <a:rPr lang="en" sz="6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1 Year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6249010" y="2578608"/>
            <a:ext cx="2503855" cy="534924"/>
          </a:xfrm>
          <a:prstGeom prst="roundRect">
            <a:avLst>
              <a:gd name="adj" fmla="val 8974"/>
            </a:avLst>
          </a:prstGeom>
          <a:solidFill>
            <a:srgbClr val="E7F5E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2"/>
          <p:cNvSpPr txBox="1"/>
          <p:nvPr/>
        </p:nvSpPr>
        <p:spPr>
          <a:xfrm>
            <a:off x="6317590" y="2647188"/>
            <a:ext cx="111476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EBITDA Margin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>
            <a:off x="6317590" y="2811780"/>
            <a:ext cx="1114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" sz="16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30.4%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7569517" y="2647188"/>
            <a:ext cx="111476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PAT Margin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7569517" y="2811780"/>
            <a:ext cx="11147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" sz="16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20.4%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240030" y="3312414"/>
            <a:ext cx="3120390" cy="126873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2"/>
          <p:cNvSpPr txBox="1"/>
          <p:nvPr/>
        </p:nvSpPr>
        <p:spPr>
          <a:xfrm>
            <a:off x="356616" y="3401568"/>
            <a:ext cx="291465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lang="en" sz="11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  RISK MITIGATION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 txBox="1"/>
          <p:nvPr/>
        </p:nvSpPr>
        <p:spPr>
          <a:xfrm>
            <a:off x="356616" y="3682746"/>
            <a:ext cx="1375029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ALREADY IN PLACE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377190" y="3929634"/>
            <a:ext cx="150876" cy="150876"/>
          </a:xfrm>
          <a:prstGeom prst="ellipse">
            <a:avLst/>
          </a:prstGeom>
          <a:solidFill>
            <a:srgbClr val="E7F5E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2"/>
          <p:cNvSpPr txBox="1"/>
          <p:nvPr/>
        </p:nvSpPr>
        <p:spPr>
          <a:xfrm>
            <a:off x="377190" y="3929634"/>
            <a:ext cx="150876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 txBox="1"/>
          <p:nvPr/>
        </p:nvSpPr>
        <p:spPr>
          <a:xfrm>
            <a:off x="569214" y="3888486"/>
            <a:ext cx="119672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9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Diversified &amp; domestic sourcing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377190" y="4169664"/>
            <a:ext cx="150876" cy="150876"/>
          </a:xfrm>
          <a:prstGeom prst="ellipse">
            <a:avLst/>
          </a:prstGeom>
          <a:solidFill>
            <a:srgbClr val="E7F5E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377190" y="4169664"/>
            <a:ext cx="150876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569214" y="4128516"/>
            <a:ext cx="119672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9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Strong balance sheet (net cash)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377190" y="4409694"/>
            <a:ext cx="150876" cy="150876"/>
          </a:xfrm>
          <a:prstGeom prst="ellipse">
            <a:avLst/>
          </a:prstGeom>
          <a:solidFill>
            <a:srgbClr val="E7F5E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/>
          <p:cNvSpPr txBox="1"/>
          <p:nvPr/>
        </p:nvSpPr>
        <p:spPr>
          <a:xfrm>
            <a:off x="377190" y="4409694"/>
            <a:ext cx="150876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7A4D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1F7A4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569214" y="4368546"/>
            <a:ext cx="1196721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9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Multiple suppliers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1896237" y="3682746"/>
            <a:ext cx="1375029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770E"/>
              </a:buClr>
              <a:buSzPts val="700"/>
              <a:buFont typeface="Calibri"/>
              <a:buNone/>
            </a:pPr>
            <a:r>
              <a:rPr lang="en" sz="700" b="1">
                <a:solidFill>
                  <a:srgbClr val="B4770E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1916811" y="3929634"/>
            <a:ext cx="150876" cy="150876"/>
          </a:xfrm>
          <a:prstGeom prst="ellipse">
            <a:avLst/>
          </a:prstGeom>
          <a:solidFill>
            <a:srgbClr val="FDF1D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1916811" y="3929634"/>
            <a:ext cx="150876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770E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B4770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2115693" y="3888486"/>
            <a:ext cx="116928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9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Increase strategic inventory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916811" y="4169664"/>
            <a:ext cx="150876" cy="150876"/>
          </a:xfrm>
          <a:prstGeom prst="ellipse">
            <a:avLst/>
          </a:prstGeom>
          <a:solidFill>
            <a:srgbClr val="FDF1D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1916811" y="4169664"/>
            <a:ext cx="150876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770E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B4770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2115693" y="4128516"/>
            <a:ext cx="116928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9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Diversify suppliers further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1916811" y="4409694"/>
            <a:ext cx="150876" cy="150876"/>
          </a:xfrm>
          <a:prstGeom prst="ellipse">
            <a:avLst/>
          </a:prstGeom>
          <a:solidFill>
            <a:srgbClr val="FDF1D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2"/>
          <p:cNvSpPr txBox="1"/>
          <p:nvPr/>
        </p:nvSpPr>
        <p:spPr>
          <a:xfrm>
            <a:off x="1916811" y="4409694"/>
            <a:ext cx="150876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770E"/>
              </a:buClr>
              <a:buSzPts val="800"/>
              <a:buFont typeface="Calibri"/>
              <a:buNone/>
            </a:pPr>
            <a:r>
              <a:rPr lang="en" sz="800" b="1">
                <a:solidFill>
                  <a:srgbClr val="B4770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2115693" y="4368546"/>
            <a:ext cx="116928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700"/>
              <a:buFont typeface="Calibri"/>
              <a:buNone/>
            </a:pPr>
            <a:r>
              <a:rPr lang="en" sz="9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Strengthen risk monitoring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3497580" y="3312414"/>
            <a:ext cx="5406161" cy="1268730"/>
          </a:xfrm>
          <a:prstGeom prst="roundRect">
            <a:avLst>
              <a:gd name="adj" fmla="val 3784"/>
            </a:avLst>
          </a:prstGeom>
          <a:solidFill>
            <a:srgbClr val="FBEAEA"/>
          </a:solidFill>
          <a:ln w="12700" cap="flat" cmpd="sng">
            <a:solidFill>
              <a:srgbClr val="E1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2"/>
          <p:cNvSpPr txBox="1"/>
          <p:nvPr/>
        </p:nvSpPr>
        <p:spPr>
          <a:xfrm>
            <a:off x="3662172" y="3401568"/>
            <a:ext cx="5076977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lang="en" sz="11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STRESS TEST — FREIGHT COST SHOCK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3662172" y="3696462"/>
            <a:ext cx="5076977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5506B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Even in the </a:t>
            </a:r>
            <a:r>
              <a:rPr lang="en" sz="1100" b="1">
                <a:solidFill>
                  <a:srgbClr val="B23A2E"/>
                </a:solidFill>
                <a:latin typeface="Calibri"/>
                <a:ea typeface="Calibri"/>
                <a:cs typeface="Calibri"/>
                <a:sym typeface="Calibri"/>
              </a:rPr>
              <a:t>Severe scenario (+150% freight cost)</a:t>
            </a:r>
            <a:r>
              <a:rPr lang="en" sz="11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, EBITDA margin slips only to </a:t>
            </a: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26.6%</a:t>
            </a:r>
            <a:r>
              <a:rPr lang="en" sz="11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 and PAT margin to </a:t>
            </a: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19.1%</a:t>
            </a:r>
            <a:r>
              <a:rPr lang="en" sz="1100" b="1">
                <a:solidFill>
                  <a:srgbClr val="45506B"/>
                </a:solidFill>
                <a:latin typeface="Calibri"/>
                <a:ea typeface="Calibri"/>
                <a:cs typeface="Calibri"/>
                <a:sym typeface="Calibri"/>
              </a:rPr>
              <a:t> — under 1 point of impact. Zydus's scale and balance sheet absorb even a worst-case shock.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240030" y="4649724"/>
            <a:ext cx="8663711" cy="390906"/>
          </a:xfrm>
          <a:prstGeom prst="roundRect">
            <a:avLst>
              <a:gd name="adj" fmla="val 12281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377190" y="4708017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2"/>
          <p:cNvSpPr txBox="1"/>
          <p:nvPr/>
        </p:nvSpPr>
        <p:spPr>
          <a:xfrm>
            <a:off x="377190" y="4708017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754380" y="4718304"/>
            <a:ext cx="1200150" cy="25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mbria"/>
              <a:buNone/>
            </a:pPr>
            <a:r>
              <a:rPr lang="en" sz="1000" b="1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KEY TAKEAWAY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2"/>
          <p:cNvSpPr txBox="1"/>
          <p:nvPr/>
        </p:nvSpPr>
        <p:spPr>
          <a:xfrm>
            <a:off x="1988820" y="4704588"/>
            <a:ext cx="4354830" cy="28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Short-term pressure, but diversified sourcing and a strong balance sheet contained the impact.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p22"/>
          <p:cNvCxnSpPr/>
          <p:nvPr/>
        </p:nvCxnSpPr>
        <p:spPr>
          <a:xfrm>
            <a:off x="6515100" y="4718304"/>
            <a:ext cx="0" cy="253746"/>
          </a:xfrm>
          <a:prstGeom prst="straightConnector1">
            <a:avLst/>
          </a:prstGeom>
          <a:noFill/>
          <a:ln w="12700" cap="flat" cmpd="sng">
            <a:solidFill>
              <a:srgbClr val="3A44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2" name="Google Shape;492;p22"/>
          <p:cNvSpPr txBox="1"/>
          <p:nvPr/>
        </p:nvSpPr>
        <p:spPr>
          <a:xfrm>
            <a:off x="6624828" y="4697730"/>
            <a:ext cx="2146554" cy="11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600"/>
              <a:buFont typeface="Calibri"/>
              <a:buNone/>
            </a:pPr>
            <a:r>
              <a:rPr lang="en" sz="600" b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COMPANY RISKOMETER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6624828" y="4834890"/>
            <a:ext cx="233172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6868287" y="4834890"/>
            <a:ext cx="233172" cy="10972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7111746" y="4834890"/>
            <a:ext cx="233172" cy="109728"/>
          </a:xfrm>
          <a:prstGeom prst="rect">
            <a:avLst/>
          </a:prstGeom>
          <a:solidFill>
            <a:srgbClr val="E9C53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2"/>
          <p:cNvSpPr/>
          <p:nvPr/>
        </p:nvSpPr>
        <p:spPr>
          <a:xfrm>
            <a:off x="7355205" y="4834890"/>
            <a:ext cx="233172" cy="109728"/>
          </a:xfrm>
          <a:prstGeom prst="rect">
            <a:avLst/>
          </a:prstGeom>
          <a:solidFill>
            <a:srgbClr val="F093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2"/>
          <p:cNvSpPr/>
          <p:nvPr/>
        </p:nvSpPr>
        <p:spPr>
          <a:xfrm>
            <a:off x="7598664" y="4834890"/>
            <a:ext cx="233172" cy="109728"/>
          </a:xfrm>
          <a:prstGeom prst="rect">
            <a:avLst/>
          </a:prstGeom>
          <a:solidFill>
            <a:srgbClr val="E1622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7842123" y="4834890"/>
            <a:ext cx="233172" cy="109728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2"/>
          <p:cNvSpPr/>
          <p:nvPr/>
        </p:nvSpPr>
        <p:spPr>
          <a:xfrm rot="10800000">
            <a:off x="7195756" y="4766310"/>
            <a:ext cx="75438" cy="685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2"/>
          <p:cNvSpPr txBox="1"/>
          <p:nvPr/>
        </p:nvSpPr>
        <p:spPr>
          <a:xfrm>
            <a:off x="8181594" y="481431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C531"/>
              </a:buClr>
              <a:buSzPts val="900"/>
              <a:buFont typeface="Calibri"/>
              <a:buNone/>
            </a:pPr>
            <a:r>
              <a:rPr lang="en" sz="900" b="1">
                <a:solidFill>
                  <a:srgbClr val="E9C531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23"/>
          <p:cNvPicPr preferRelativeResize="0"/>
          <p:nvPr/>
        </p:nvPicPr>
        <p:blipFill rotWithShape="1">
          <a:blip r:embed="rId3">
            <a:alphaModFix/>
          </a:blip>
          <a:srcRect t="-1410" b="1410"/>
          <a:stretch/>
        </p:blipFill>
        <p:spPr>
          <a:xfrm>
            <a:off x="0" y="6667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09;p37">
            <a:extLst>
              <a:ext uri="{FF2B5EF4-FFF2-40B4-BE49-F238E27FC236}">
                <a16:creationId xmlns:a16="http://schemas.microsoft.com/office/drawing/2014/main" id="{A3330CA3-6CFC-1DB0-6235-D7BB3813A2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00296"/>
            <a:ext cx="9144000" cy="5343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886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4"/>
          <p:cNvSpPr txBox="1"/>
          <p:nvPr/>
        </p:nvSpPr>
        <p:spPr>
          <a:xfrm>
            <a:off x="274320" y="192024"/>
            <a:ext cx="7200900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lang="en" sz="2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LUPIN — STOCK RISK &amp; MITIGATION SNAPSHOT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 txBox="1"/>
          <p:nvPr/>
        </p:nvSpPr>
        <p:spPr>
          <a:xfrm>
            <a:off x="274320" y="548640"/>
            <a:ext cx="72009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7D"/>
              </a:buClr>
              <a:buSzPts val="1000"/>
              <a:buFont typeface="Calibri"/>
              <a:buNone/>
            </a:pPr>
            <a:r>
              <a:rPr lang="en" sz="10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 Sea shipping disruption</a:t>
            </a:r>
            <a:endParaRPr sz="1000" b="1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7269480" y="219456"/>
            <a:ext cx="1597914" cy="308610"/>
          </a:xfrm>
          <a:prstGeom prst="roundRect">
            <a:avLst>
              <a:gd name="adj" fmla="val 13333"/>
            </a:avLst>
          </a:prstGeom>
          <a:solidFill>
            <a:srgbClr val="B03A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Classification: LOSER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4" name="Google Shape;514;p24"/>
          <p:cNvGrpSpPr/>
          <p:nvPr/>
        </p:nvGrpSpPr>
        <p:grpSpPr>
          <a:xfrm>
            <a:off x="274320" y="822960"/>
            <a:ext cx="4149090" cy="1680210"/>
            <a:chOff x="274320" y="822960"/>
            <a:chExt cx="4149090" cy="1680210"/>
          </a:xfrm>
        </p:grpSpPr>
        <p:sp>
          <p:nvSpPr>
            <p:cNvPr id="515" name="Google Shape;515;p24"/>
            <p:cNvSpPr/>
            <p:nvPr/>
          </p:nvSpPr>
          <p:spPr>
            <a:xfrm>
              <a:off x="274320" y="822960"/>
              <a:ext cx="4149090" cy="1680210"/>
            </a:xfrm>
            <a:prstGeom prst="roundRect">
              <a:avLst>
                <a:gd name="adj" fmla="val 3265"/>
              </a:avLst>
            </a:prstGeom>
            <a:solidFill>
              <a:srgbClr val="F5F7FC"/>
            </a:solidFill>
            <a:ln w="9525" cap="flat" cmpd="sng">
              <a:solidFill>
                <a:srgbClr val="DCE3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6200" dist="25400" dir="5400000" algn="bl" rotWithShape="0">
                <a:srgbClr val="1E2761">
                  <a:alpha val="12157"/>
                </a:srgbClr>
              </a:outerShdw>
            </a:effectLst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/>
            </a:p>
          </p:txBody>
        </p:sp>
        <p:sp>
          <p:nvSpPr>
            <p:cNvPr id="516" name="Google Shape;516;p24"/>
            <p:cNvSpPr txBox="1"/>
            <p:nvPr/>
          </p:nvSpPr>
          <p:spPr>
            <a:xfrm>
              <a:off x="425196" y="918972"/>
              <a:ext cx="3847338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000"/>
                <a:buFont typeface="Calibri"/>
                <a:buNone/>
              </a:pPr>
              <a:r>
                <a:rPr lang="en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STOCK RISK METRICS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24"/>
            <p:cNvSpPr txBox="1"/>
            <p:nvPr/>
          </p:nvSpPr>
          <p:spPr>
            <a:xfrm>
              <a:off x="445770" y="1200150"/>
              <a:ext cx="25374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None/>
              </a:pPr>
              <a:r>
                <a:rPr lang="en" sz="10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Beta (vs Nifty 50)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24"/>
            <p:cNvSpPr txBox="1"/>
            <p:nvPr/>
          </p:nvSpPr>
          <p:spPr>
            <a:xfrm>
              <a:off x="2983230" y="1200150"/>
              <a:ext cx="130302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100"/>
                <a:buFont typeface="Calibri"/>
                <a:buNone/>
              </a:pPr>
              <a:r>
                <a:rPr lang="en" sz="12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0.44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445770" y="1419606"/>
              <a:ext cx="25374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None/>
              </a:pPr>
              <a:r>
                <a:rPr lang="en" sz="10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Current Price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24"/>
            <p:cNvSpPr txBox="1"/>
            <p:nvPr/>
          </p:nvSpPr>
          <p:spPr>
            <a:xfrm>
              <a:off x="2983230" y="1419606"/>
              <a:ext cx="130302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100"/>
                <a:buFont typeface="Calibri"/>
                <a:buNone/>
              </a:pPr>
              <a:r>
                <a:rPr lang="en" sz="12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₹2,006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24"/>
            <p:cNvSpPr txBox="1"/>
            <p:nvPr/>
          </p:nvSpPr>
          <p:spPr>
            <a:xfrm>
              <a:off x="445770" y="1639062"/>
              <a:ext cx="25374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None/>
              </a:pPr>
              <a:r>
                <a:rPr lang="en" sz="10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Historical Volatility (ann.)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24"/>
            <p:cNvSpPr txBox="1"/>
            <p:nvPr/>
          </p:nvSpPr>
          <p:spPr>
            <a:xfrm>
              <a:off x="2983230" y="1639062"/>
              <a:ext cx="130302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100"/>
                <a:buFont typeface="Calibri"/>
                <a:buNone/>
              </a:pPr>
              <a:r>
                <a:rPr lang="en" sz="12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25.5%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24"/>
            <p:cNvSpPr txBox="1"/>
            <p:nvPr/>
          </p:nvSpPr>
          <p:spPr>
            <a:xfrm>
              <a:off x="445770" y="1858518"/>
              <a:ext cx="25374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None/>
              </a:pPr>
              <a:r>
                <a:rPr lang="en" sz="10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Event-Window Volatility (ann.)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24"/>
            <p:cNvSpPr txBox="1"/>
            <p:nvPr/>
          </p:nvSpPr>
          <p:spPr>
            <a:xfrm>
              <a:off x="2983230" y="1858518"/>
              <a:ext cx="1303020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100"/>
                <a:buFont typeface="Calibri"/>
                <a:buNone/>
              </a:pPr>
              <a:r>
                <a:rPr lang="en" sz="12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23.6%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24"/>
            <p:cNvSpPr txBox="1"/>
            <p:nvPr/>
          </p:nvSpPr>
          <p:spPr>
            <a:xfrm>
              <a:off x="445770" y="2125980"/>
              <a:ext cx="3806190" cy="308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6B7D"/>
                </a:buClr>
                <a:buSzPts val="800"/>
                <a:buFont typeface="Calibri"/>
                <a:buNone/>
              </a:pPr>
              <a:r>
                <a:rPr lang="en" sz="9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Volatility ratio 0.93x — event window was slightly calmer than normal. Event-day (T0) abnormal return: +1.8%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24"/>
          <p:cNvSpPr txBox="1"/>
          <p:nvPr/>
        </p:nvSpPr>
        <p:spPr>
          <a:xfrm>
            <a:off x="8058150" y="1234440"/>
            <a:ext cx="60350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7D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6B6B7D"/>
                </a:solidFill>
                <a:latin typeface="Calibri"/>
                <a:ea typeface="Calibri"/>
                <a:cs typeface="Calibri"/>
                <a:sym typeface="Calibri"/>
              </a:rPr>
              <a:t>+1 Year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 txBox="1"/>
          <p:nvPr/>
        </p:nvSpPr>
        <p:spPr>
          <a:xfrm>
            <a:off x="8058150" y="1453896"/>
            <a:ext cx="603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₹2,006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4"/>
          <p:cNvSpPr txBox="1"/>
          <p:nvPr/>
        </p:nvSpPr>
        <p:spPr>
          <a:xfrm>
            <a:off x="8058150" y="1728216"/>
            <a:ext cx="60350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A34D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3FA34D"/>
                </a:solidFill>
                <a:latin typeface="Calibri"/>
                <a:ea typeface="Calibri"/>
                <a:cs typeface="Calibri"/>
                <a:sym typeface="Calibri"/>
              </a:rPr>
              <a:t>+64.2%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9" name="Google Shape;529;p24"/>
          <p:cNvGrpSpPr/>
          <p:nvPr/>
        </p:nvGrpSpPr>
        <p:grpSpPr>
          <a:xfrm>
            <a:off x="4697730" y="822960"/>
            <a:ext cx="4169664" cy="1680210"/>
            <a:chOff x="4697730" y="822960"/>
            <a:chExt cx="4169664" cy="1680210"/>
          </a:xfrm>
        </p:grpSpPr>
        <p:sp>
          <p:nvSpPr>
            <p:cNvPr id="530" name="Google Shape;530;p24"/>
            <p:cNvSpPr/>
            <p:nvPr/>
          </p:nvSpPr>
          <p:spPr>
            <a:xfrm>
              <a:off x="4697730" y="822960"/>
              <a:ext cx="4169664" cy="1680210"/>
            </a:xfrm>
            <a:prstGeom prst="roundRect">
              <a:avLst>
                <a:gd name="adj" fmla="val 3265"/>
              </a:avLst>
            </a:prstGeom>
            <a:solidFill>
              <a:srgbClr val="F5F7FC"/>
            </a:solidFill>
            <a:ln w="9525" cap="flat" cmpd="sng">
              <a:solidFill>
                <a:srgbClr val="DCE3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6200" dist="25400" dir="5400000" algn="bl" rotWithShape="0">
                <a:srgbClr val="1E2761">
                  <a:alpha val="12157"/>
                </a:srgbClr>
              </a:outerShdw>
            </a:effectLst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4"/>
            <p:cNvSpPr txBox="1"/>
            <p:nvPr/>
          </p:nvSpPr>
          <p:spPr>
            <a:xfrm>
              <a:off x="4848606" y="918972"/>
              <a:ext cx="3867912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000"/>
                <a:buFont typeface="Calibri"/>
                <a:buNone/>
              </a:pPr>
              <a:r>
                <a:rPr lang="en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PRICE PERFORMANCE SINCE EVENT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24"/>
            <p:cNvSpPr txBox="1"/>
            <p:nvPr/>
          </p:nvSpPr>
          <p:spPr>
            <a:xfrm>
              <a:off x="4869180" y="1234440"/>
              <a:ext cx="6035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B6B7D"/>
                </a:buClr>
                <a:buSzPts val="700"/>
                <a:buFont typeface="Calibri"/>
                <a:buNone/>
              </a:pPr>
              <a:r>
                <a:rPr lang="en" sz="700" b="0" i="0" u="none" strike="noStrike" cap="none">
                  <a:solidFill>
                    <a:srgbClr val="6B6B7D"/>
                  </a:solidFill>
                  <a:latin typeface="Calibri"/>
                  <a:ea typeface="Calibri"/>
                  <a:cs typeface="Calibri"/>
                  <a:sym typeface="Calibri"/>
                </a:rPr>
                <a:t>Pre-Event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4"/>
            <p:cNvSpPr txBox="1"/>
            <p:nvPr/>
          </p:nvSpPr>
          <p:spPr>
            <a:xfrm>
              <a:off x="4869180" y="1453896"/>
              <a:ext cx="6035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lang="en" sz="1000" b="1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₹1,199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4"/>
            <p:cNvSpPr txBox="1"/>
            <p:nvPr/>
          </p:nvSpPr>
          <p:spPr>
            <a:xfrm>
              <a:off x="4869180" y="1728216"/>
              <a:ext cx="603504" cy="2400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4"/>
            <p:cNvSpPr txBox="1"/>
            <p:nvPr/>
          </p:nvSpPr>
          <p:spPr>
            <a:xfrm>
              <a:off x="5506974" y="1234440"/>
              <a:ext cx="6035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B6B7D"/>
                </a:buClr>
                <a:buSzPts val="700"/>
                <a:buFont typeface="Calibri"/>
                <a:buNone/>
              </a:pPr>
              <a:r>
                <a:rPr lang="en" sz="700" b="0" i="0" u="none" strike="noStrike" cap="none">
                  <a:solidFill>
                    <a:srgbClr val="6B6B7D"/>
                  </a:solidFill>
                  <a:latin typeface="Calibri"/>
                  <a:ea typeface="Calibri"/>
                  <a:cs typeface="Calibri"/>
                  <a:sym typeface="Calibri"/>
                </a:rPr>
                <a:t>Event Date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4"/>
            <p:cNvSpPr txBox="1"/>
            <p:nvPr/>
          </p:nvSpPr>
          <p:spPr>
            <a:xfrm>
              <a:off x="5506974" y="1453896"/>
              <a:ext cx="6035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lang="en" sz="1000" b="1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₹1,222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4"/>
            <p:cNvSpPr txBox="1"/>
            <p:nvPr/>
          </p:nvSpPr>
          <p:spPr>
            <a:xfrm>
              <a:off x="5506974" y="1728216"/>
              <a:ext cx="603504" cy="2400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4"/>
            <p:cNvSpPr txBox="1"/>
            <p:nvPr/>
          </p:nvSpPr>
          <p:spPr>
            <a:xfrm>
              <a:off x="6144768" y="1234440"/>
              <a:ext cx="6035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B6B7D"/>
                </a:buClr>
                <a:buSzPts val="700"/>
                <a:buFont typeface="Calibri"/>
                <a:buNone/>
              </a:pPr>
              <a:r>
                <a:rPr lang="en" sz="700" b="0" i="0" u="none" strike="noStrike" cap="none">
                  <a:solidFill>
                    <a:srgbClr val="6B6B7D"/>
                  </a:solidFill>
                  <a:latin typeface="Calibri"/>
                  <a:ea typeface="Calibri"/>
                  <a:cs typeface="Calibri"/>
                  <a:sym typeface="Calibri"/>
                </a:rPr>
                <a:t>+1 Month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4"/>
            <p:cNvSpPr txBox="1"/>
            <p:nvPr/>
          </p:nvSpPr>
          <p:spPr>
            <a:xfrm>
              <a:off x="6144768" y="1453896"/>
              <a:ext cx="6035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lang="en" sz="1000" b="1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₹1,257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4"/>
            <p:cNvSpPr txBox="1"/>
            <p:nvPr/>
          </p:nvSpPr>
          <p:spPr>
            <a:xfrm>
              <a:off x="6144768" y="1728216"/>
              <a:ext cx="603504" cy="2400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FA34D"/>
                </a:buClr>
                <a:buSzPts val="900"/>
                <a:buFont typeface="Calibri"/>
                <a:buNone/>
              </a:pPr>
              <a:r>
                <a:rPr lang="en" sz="900" b="1" i="0" u="none" strike="noStrike" cap="none">
                  <a:solidFill>
                    <a:srgbClr val="3FA34D"/>
                  </a:solidFill>
                  <a:latin typeface="Calibri"/>
                  <a:ea typeface="Calibri"/>
                  <a:cs typeface="Calibri"/>
                  <a:sym typeface="Calibri"/>
                </a:rPr>
                <a:t>+2.9%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4"/>
            <p:cNvSpPr txBox="1"/>
            <p:nvPr/>
          </p:nvSpPr>
          <p:spPr>
            <a:xfrm>
              <a:off x="6782562" y="1234440"/>
              <a:ext cx="6035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B6B7D"/>
                </a:buClr>
                <a:buSzPts val="700"/>
                <a:buFont typeface="Calibri"/>
                <a:buNone/>
              </a:pPr>
              <a:r>
                <a:rPr lang="en" sz="700" b="0" i="0" u="none" strike="noStrike" cap="none">
                  <a:solidFill>
                    <a:srgbClr val="6B6B7D"/>
                  </a:solidFill>
                  <a:latin typeface="Calibri"/>
                  <a:ea typeface="Calibri"/>
                  <a:cs typeface="Calibri"/>
                  <a:sym typeface="Calibri"/>
                </a:rPr>
                <a:t>+3 Months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4"/>
            <p:cNvSpPr txBox="1"/>
            <p:nvPr/>
          </p:nvSpPr>
          <p:spPr>
            <a:xfrm>
              <a:off x="6782562" y="1453896"/>
              <a:ext cx="6035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lang="en" sz="1000" b="1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₹1,599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24"/>
            <p:cNvSpPr txBox="1"/>
            <p:nvPr/>
          </p:nvSpPr>
          <p:spPr>
            <a:xfrm>
              <a:off x="6782562" y="1728216"/>
              <a:ext cx="603504" cy="2400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FA34D"/>
                </a:buClr>
                <a:buSzPts val="900"/>
                <a:buFont typeface="Calibri"/>
                <a:buNone/>
              </a:pPr>
              <a:r>
                <a:rPr lang="en" sz="900" b="1" i="0" u="none" strike="noStrike" cap="none">
                  <a:solidFill>
                    <a:srgbClr val="3FA34D"/>
                  </a:solidFill>
                  <a:latin typeface="Calibri"/>
                  <a:ea typeface="Calibri"/>
                  <a:cs typeface="Calibri"/>
                  <a:sym typeface="Calibri"/>
                </a:rPr>
                <a:t>+30.9%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24"/>
            <p:cNvSpPr txBox="1"/>
            <p:nvPr/>
          </p:nvSpPr>
          <p:spPr>
            <a:xfrm>
              <a:off x="7420356" y="1234440"/>
              <a:ext cx="6035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6B6B7D"/>
                </a:buClr>
                <a:buSzPts val="700"/>
                <a:buFont typeface="Calibri"/>
                <a:buNone/>
              </a:pPr>
              <a:r>
                <a:rPr lang="en" sz="700" b="0" i="0" u="none" strike="noStrike" cap="none">
                  <a:solidFill>
                    <a:srgbClr val="6B6B7D"/>
                  </a:solidFill>
                  <a:latin typeface="Calibri"/>
                  <a:ea typeface="Calibri"/>
                  <a:cs typeface="Calibri"/>
                  <a:sym typeface="Calibri"/>
                </a:rPr>
                <a:t>+6 Months</a:t>
              </a:r>
              <a:endParaRPr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24"/>
            <p:cNvSpPr txBox="1"/>
            <p:nvPr/>
          </p:nvSpPr>
          <p:spPr>
            <a:xfrm>
              <a:off x="7420356" y="1453896"/>
              <a:ext cx="6035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lang="en" sz="1000" b="1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₹1,684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24"/>
            <p:cNvSpPr txBox="1"/>
            <p:nvPr/>
          </p:nvSpPr>
          <p:spPr>
            <a:xfrm>
              <a:off x="7420356" y="1728216"/>
              <a:ext cx="603504" cy="2400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3FA34D"/>
                </a:buClr>
                <a:buSzPts val="900"/>
                <a:buFont typeface="Calibri"/>
                <a:buNone/>
              </a:pPr>
              <a:r>
                <a:rPr lang="en" sz="900" b="1" i="0" u="none" strike="noStrike" cap="none">
                  <a:solidFill>
                    <a:srgbClr val="3FA34D"/>
                  </a:solidFill>
                  <a:latin typeface="Calibri"/>
                  <a:ea typeface="Calibri"/>
                  <a:cs typeface="Calibri"/>
                  <a:sym typeface="Calibri"/>
                </a:rPr>
                <a:t>+37.8%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7" name="Google Shape;547;p24"/>
            <p:cNvCxnSpPr/>
            <p:nvPr/>
          </p:nvCxnSpPr>
          <p:spPr>
            <a:xfrm>
              <a:off x="4869180" y="1700784"/>
              <a:ext cx="3826764" cy="0"/>
            </a:xfrm>
            <a:prstGeom prst="straightConnector1">
              <a:avLst/>
            </a:prstGeom>
            <a:noFill/>
            <a:ln w="12700" cap="flat" cmpd="sng">
              <a:solidFill>
                <a:srgbClr val="DCE3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8" name="Google Shape;548;p24"/>
            <p:cNvSpPr txBox="1"/>
            <p:nvPr/>
          </p:nvSpPr>
          <p:spPr>
            <a:xfrm>
              <a:off x="4869180" y="2160270"/>
              <a:ext cx="38267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6B7D"/>
                </a:buClr>
                <a:buSzPts val="800"/>
                <a:buFont typeface="Calibri"/>
                <a:buNone/>
              </a:pPr>
              <a:r>
                <a:rPr lang="en" sz="9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Return measured from event date (20-Nov-2023). Stock recovered and outperformed within a year.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9" name="Google Shape;549;p24"/>
          <p:cNvSpPr/>
          <p:nvPr/>
        </p:nvSpPr>
        <p:spPr>
          <a:xfrm>
            <a:off x="274320" y="2606040"/>
            <a:ext cx="4149090" cy="157734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 w="9525" cap="flat" cmpd="sng">
            <a:solidFill>
              <a:srgbClr val="DCE3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E2761">
                <a:alpha val="12157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4"/>
          <p:cNvSpPr txBox="1"/>
          <p:nvPr/>
        </p:nvSpPr>
        <p:spPr>
          <a:xfrm>
            <a:off x="425196" y="2702052"/>
            <a:ext cx="384733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STRESS TEST — CRUDE / FREIGHT COST SHOCK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1" name="Google Shape;551;p24"/>
          <p:cNvGraphicFramePr/>
          <p:nvPr/>
        </p:nvGraphicFramePr>
        <p:xfrm>
          <a:off x="425196" y="2983230"/>
          <a:ext cx="3847325" cy="822900"/>
        </p:xfrm>
        <a:graphic>
          <a:graphicData uri="http://schemas.openxmlformats.org/drawingml/2006/table">
            <a:tbl>
              <a:tblPr>
                <a:noFill/>
                <a:tableStyleId>{1337B611-F349-4DFB-87B7-DE57A7845E1B}</a:tableStyleId>
              </a:tblPr>
              <a:tblGrid>
                <a:gridCol w="106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(+30%)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Severe (+100%)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EBITDA Margin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20.0%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19.5%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18.3%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 Margin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9.8%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9.5%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8.5%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Implied Stock Price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₹2,006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₹1,926 (−4.0%)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₹1,737 (−13.4%)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2" name="Google Shape;552;p24"/>
          <p:cNvSpPr txBox="1"/>
          <p:nvPr/>
        </p:nvSpPr>
        <p:spPr>
          <a:xfrm>
            <a:off x="445770" y="3963924"/>
            <a:ext cx="380619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7D"/>
              </a:buClr>
              <a:buSzPts val="700"/>
              <a:buFont typeface="Calibri"/>
              <a:buNone/>
            </a:pPr>
            <a:r>
              <a:rPr lang="en" sz="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Exposed revenue 66%  •  Baseline freight cost 2.5% of exposed revenue  •  Tax rate 20%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24"/>
          <p:cNvGrpSpPr/>
          <p:nvPr/>
        </p:nvGrpSpPr>
        <p:grpSpPr>
          <a:xfrm>
            <a:off x="4697730" y="2606040"/>
            <a:ext cx="4169664" cy="1577340"/>
            <a:chOff x="4697730" y="2606040"/>
            <a:chExt cx="4169664" cy="1577340"/>
          </a:xfrm>
        </p:grpSpPr>
        <p:sp>
          <p:nvSpPr>
            <p:cNvPr id="554" name="Google Shape;554;p24"/>
            <p:cNvSpPr/>
            <p:nvPr/>
          </p:nvSpPr>
          <p:spPr>
            <a:xfrm>
              <a:off x="4697730" y="2606040"/>
              <a:ext cx="4169664" cy="1577340"/>
            </a:xfrm>
            <a:prstGeom prst="roundRect">
              <a:avLst>
                <a:gd name="adj" fmla="val 3478"/>
              </a:avLst>
            </a:prstGeom>
            <a:solidFill>
              <a:srgbClr val="F5F7FC"/>
            </a:solidFill>
            <a:ln w="9525" cap="flat" cmpd="sng">
              <a:solidFill>
                <a:srgbClr val="DCE3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6200" dist="25400" dir="5400000" algn="bl" rotWithShape="0">
                <a:srgbClr val="1E2761">
                  <a:alpha val="12157"/>
                </a:srgbClr>
              </a:outerShdw>
            </a:effectLst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4"/>
            <p:cNvSpPr txBox="1"/>
            <p:nvPr/>
          </p:nvSpPr>
          <p:spPr>
            <a:xfrm>
              <a:off x="4848606" y="2702052"/>
              <a:ext cx="3867912" cy="219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000"/>
                <a:buFont typeface="Calibri"/>
                <a:buNone/>
              </a:pPr>
              <a:r>
                <a:rPr lang="en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" sz="11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IS</a:t>
              </a:r>
              <a:r>
                <a:rPr lang="en" sz="11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K MITIGATIO</a:t>
              </a:r>
              <a:r>
                <a:rPr lang="en" sz="11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4"/>
            <p:cNvSpPr txBox="1"/>
            <p:nvPr/>
          </p:nvSpPr>
          <p:spPr>
            <a:xfrm>
              <a:off x="4869180" y="2962656"/>
              <a:ext cx="1885950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800"/>
                <a:buFont typeface="Calibri"/>
                <a:buNone/>
              </a:pPr>
              <a:r>
                <a:rPr lang="en" sz="1000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CURRENT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4"/>
            <p:cNvSpPr txBox="1"/>
            <p:nvPr/>
          </p:nvSpPr>
          <p:spPr>
            <a:xfrm>
              <a:off x="4869180" y="3140964"/>
              <a:ext cx="1954530" cy="788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54000" marR="0" lvl="0" indent="-2603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✓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Natural hedges + FX derivatives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54000" marR="0" lvl="0" indent="-26035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✓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ERM: Board Risk Committee oversight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54000" marR="0" lvl="0" indent="-26035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✓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Import-substitution strategy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54000" marR="0" lvl="0" indent="-26035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✓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Air freight cut 34% → 10%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8" name="Google Shape;558;p24"/>
            <p:cNvCxnSpPr/>
            <p:nvPr/>
          </p:nvCxnSpPr>
          <p:spPr>
            <a:xfrm>
              <a:off x="6892290" y="2962656"/>
              <a:ext cx="0" cy="1097280"/>
            </a:xfrm>
            <a:prstGeom prst="straightConnector1">
              <a:avLst/>
            </a:prstGeom>
            <a:noFill/>
            <a:ln w="12700" cap="flat" cmpd="sng">
              <a:solidFill>
                <a:srgbClr val="DCE3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59" name="Google Shape;559;p24"/>
            <p:cNvSpPr txBox="1"/>
            <p:nvPr/>
          </p:nvSpPr>
          <p:spPr>
            <a:xfrm>
              <a:off x="6995160" y="2962656"/>
              <a:ext cx="1714500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2691E"/>
                </a:buClr>
                <a:buSzPts val="800"/>
                <a:buFont typeface="Calibri"/>
                <a:buNone/>
              </a:pPr>
              <a:r>
                <a:rPr lang="en" sz="1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RECOMMENDED NEXT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24"/>
            <p:cNvSpPr txBox="1"/>
            <p:nvPr/>
          </p:nvSpPr>
          <p:spPr>
            <a:xfrm>
              <a:off x="6995160" y="3140964"/>
              <a:ext cx="1748790" cy="857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54000" marR="0" lvl="0" indent="-2603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→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Fixed-price contracts for crude-linked inputs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54000" marR="0" lvl="0" indent="-26035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→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Increase % of USD revenue hedged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54000" marR="0" lvl="0" indent="-26035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→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Accelerate import substitution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54000" marR="0" lvl="0" indent="-26035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1A1A2E"/>
                </a:buClr>
                <a:buSzPts val="900"/>
                <a:buFont typeface="Calibri"/>
                <a:buChar char="→"/>
              </a:pPr>
              <a:r>
                <a:rPr lang="en" sz="9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Build strategic buffer inventory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1" name="Google Shape;561;p24"/>
          <p:cNvSpPr txBox="1"/>
          <p:nvPr/>
        </p:nvSpPr>
        <p:spPr>
          <a:xfrm>
            <a:off x="274320" y="4334256"/>
            <a:ext cx="2057400" cy="17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1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RISK-O-METER</a:t>
            </a:r>
            <a:endParaRPr sz="1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2" name="Google Shape;562;p24"/>
          <p:cNvGrpSpPr/>
          <p:nvPr/>
        </p:nvGrpSpPr>
        <p:grpSpPr>
          <a:xfrm>
            <a:off x="274320" y="4539996"/>
            <a:ext cx="8593074" cy="205800"/>
            <a:chOff x="274320" y="4539996"/>
            <a:chExt cx="8593074" cy="205800"/>
          </a:xfrm>
        </p:grpSpPr>
        <p:sp>
          <p:nvSpPr>
            <p:cNvPr id="563" name="Google Shape;563;p24"/>
            <p:cNvSpPr/>
            <p:nvPr/>
          </p:nvSpPr>
          <p:spPr>
            <a:xfrm>
              <a:off x="274320" y="4539996"/>
              <a:ext cx="1718700" cy="205800"/>
            </a:xfrm>
            <a:prstGeom prst="rect">
              <a:avLst/>
            </a:prstGeom>
            <a:solidFill>
              <a:srgbClr val="3FA34D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1992935" y="4539996"/>
              <a:ext cx="2577923" cy="205740"/>
            </a:xfrm>
            <a:prstGeom prst="rect">
              <a:avLst/>
            </a:prstGeom>
            <a:solidFill>
              <a:srgbClr val="C98A1B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4570857" y="4539996"/>
              <a:ext cx="2577923" cy="205740"/>
            </a:xfrm>
            <a:prstGeom prst="rect">
              <a:avLst/>
            </a:prstGeom>
            <a:solidFill>
              <a:srgbClr val="D2691E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7148779" y="4539996"/>
              <a:ext cx="1718615" cy="20574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24"/>
          <p:cNvGrpSpPr/>
          <p:nvPr/>
        </p:nvGrpSpPr>
        <p:grpSpPr>
          <a:xfrm>
            <a:off x="274332" y="4533109"/>
            <a:ext cx="8593160" cy="205800"/>
            <a:chOff x="274320" y="4539996"/>
            <a:chExt cx="8593160" cy="205800"/>
          </a:xfrm>
        </p:grpSpPr>
        <p:sp>
          <p:nvSpPr>
            <p:cNvPr id="568" name="Google Shape;568;p24"/>
            <p:cNvSpPr txBox="1"/>
            <p:nvPr/>
          </p:nvSpPr>
          <p:spPr>
            <a:xfrm>
              <a:off x="274320" y="4539996"/>
              <a:ext cx="1718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alibri"/>
                <a:buNone/>
              </a:pPr>
              <a:r>
                <a:rPr lang="en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LOW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24"/>
            <p:cNvSpPr txBox="1"/>
            <p:nvPr/>
          </p:nvSpPr>
          <p:spPr>
            <a:xfrm>
              <a:off x="1992935" y="4539996"/>
              <a:ext cx="25779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alibri"/>
                <a:buNone/>
              </a:pPr>
              <a:r>
                <a:rPr lang="en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MODERATE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24"/>
            <p:cNvSpPr txBox="1"/>
            <p:nvPr/>
          </p:nvSpPr>
          <p:spPr>
            <a:xfrm>
              <a:off x="4570857" y="4539996"/>
              <a:ext cx="25779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alibri"/>
                <a:buNone/>
              </a:pPr>
              <a:r>
                <a:rPr lang="en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HIGH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24"/>
            <p:cNvSpPr txBox="1"/>
            <p:nvPr/>
          </p:nvSpPr>
          <p:spPr>
            <a:xfrm>
              <a:off x="7148780" y="4539996"/>
              <a:ext cx="1718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Calibri"/>
                <a:buNone/>
              </a:pPr>
              <a:r>
                <a:rPr lang="en" sz="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SEVERE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2" name="Google Shape;572;p24"/>
          <p:cNvSpPr/>
          <p:nvPr/>
        </p:nvSpPr>
        <p:spPr>
          <a:xfrm rot="10800000">
            <a:off x="5053061" y="4416552"/>
            <a:ext cx="109728" cy="109728"/>
          </a:xfrm>
          <a:prstGeom prst="triangle">
            <a:avLst>
              <a:gd name="adj" fmla="val 50000"/>
            </a:avLst>
          </a:prstGeom>
          <a:solidFill>
            <a:srgbClr val="141A47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4"/>
          <p:cNvSpPr txBox="1"/>
          <p:nvPr/>
        </p:nvSpPr>
        <p:spPr>
          <a:xfrm>
            <a:off x="4593575" y="4251960"/>
            <a:ext cx="1028700" cy="1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1A47"/>
              </a:buClr>
              <a:buSzPts val="700"/>
              <a:buFont typeface="Calibri"/>
              <a:buNone/>
            </a:pPr>
            <a:r>
              <a:rPr lang="en" sz="800" b="1" i="0" u="none" strike="noStrike" cap="none">
                <a:solidFill>
                  <a:srgbClr val="141A47"/>
                </a:solidFill>
                <a:latin typeface="Calibri"/>
                <a:ea typeface="Calibri"/>
                <a:cs typeface="Calibri"/>
                <a:sym typeface="Calibri"/>
              </a:rPr>
              <a:t>BEFORE: 3.25 (High)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2904792" y="4759452"/>
            <a:ext cx="109728" cy="109728"/>
          </a:xfrm>
          <a:prstGeom prst="triangle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2376725" y="4882896"/>
            <a:ext cx="1165860" cy="15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700"/>
              <a:buFont typeface="Calibri"/>
              <a:buNone/>
            </a:pPr>
            <a:r>
              <a:rPr lang="en" sz="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AFTER: 2.25 (Moderate)</a:t>
            </a:r>
            <a:endParaRPr sz="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5"/>
          <p:cNvSpPr txBox="1"/>
          <p:nvPr/>
        </p:nvSpPr>
        <p:spPr>
          <a:xfrm>
            <a:off x="274320" y="164592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" sz="2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BOARDROOM CRISIS — THE SURPRISE ELEMENT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 txBox="1"/>
          <p:nvPr/>
        </p:nvSpPr>
        <p:spPr>
          <a:xfrm>
            <a:off x="274320" y="480060"/>
            <a:ext cx="85725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7D"/>
              </a:buClr>
              <a:buSzPts val="1000"/>
              <a:buFont typeface="Calibri"/>
              <a:buNone/>
            </a:pPr>
            <a:r>
              <a:rPr lang="en" sz="120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News: crude oil +25%  •  INR depreciates 3%  •  10-yr G-Sec yield +40 bps</a:t>
            </a:r>
            <a:endParaRPr sz="120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3" name="Google Shape;583;p25"/>
          <p:cNvGraphicFramePr/>
          <p:nvPr/>
        </p:nvGraphicFramePr>
        <p:xfrm>
          <a:off x="274320" y="754380"/>
          <a:ext cx="8593025" cy="3148950"/>
        </p:xfrm>
        <a:graphic>
          <a:graphicData uri="http://schemas.openxmlformats.org/drawingml/2006/table">
            <a:tbl>
              <a:tblPr>
                <a:noFill/>
                <a:tableStyleId>{1337B611-F349-4DFB-87B7-DE57A7845E1B}</a:tableStyleId>
              </a:tblPr>
              <a:tblGrid>
                <a:gridCol w="92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9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EBITDA Margin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Now → After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 Margin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Now → After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 Pharma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34D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FA3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Winner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26.8% → 26.3%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20.8% → 20.5%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34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3FA3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−1.8%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Dollar revenue tailwind; low cost exposure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34D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FA3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Hold/Buy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Cipla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34D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FA3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Winner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24.4% → 24.3%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16.0% → 15.9%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34D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3FA3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−0.7%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import dependency; muted FX impact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A34D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FA3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Zydus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8A1B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C98A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Neutral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27.5% → 27.4%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19.8% → 19.6%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8A1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C98A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−0.6%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Diversified business cushions cost hit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8A1B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C98A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Dr. Reddy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8A1B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C98A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Neutral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28.4% → 28.3%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20.0% → 19.9%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8A1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C98A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−0.6%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 hedge — imports &amp; exports offset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8A1B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C98A1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Lupin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20.0% → 19.5%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9.8% → 9.5%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−4.0%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Tender pricing blocks cost pass-through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Reduce/Hedge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Aurobindo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20.1% → 19.9%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10.9% → 10.8%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2E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1200" b="1" u="none" strike="noStrike" cap="non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−1.1%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Two-way exposure + highest beta in group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3A2E"/>
                        </a:buClr>
                        <a:buSzPts val="7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B03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CE3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4" name="Google Shape;584;p25"/>
          <p:cNvSpPr txBox="1"/>
          <p:nvPr/>
        </p:nvSpPr>
        <p:spPr>
          <a:xfrm>
            <a:off x="274320" y="3963924"/>
            <a:ext cx="85932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7D"/>
              </a:buClr>
              <a:buSzPts val="7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 txBox="1"/>
          <p:nvPr/>
        </p:nvSpPr>
        <p:spPr>
          <a:xfrm>
            <a:off x="258320" y="3970782"/>
            <a:ext cx="27432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OTHER PORTFOLIO MOVES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6" name="Google Shape;586;p25"/>
          <p:cNvGrpSpPr/>
          <p:nvPr/>
        </p:nvGrpSpPr>
        <p:grpSpPr>
          <a:xfrm>
            <a:off x="274406" y="4211734"/>
            <a:ext cx="8658466" cy="645890"/>
            <a:chOff x="3208396" y="4276884"/>
            <a:chExt cx="5660238" cy="493800"/>
          </a:xfrm>
        </p:grpSpPr>
        <p:sp>
          <p:nvSpPr>
            <p:cNvPr id="587" name="Google Shape;587;p25"/>
            <p:cNvSpPr/>
            <p:nvPr/>
          </p:nvSpPr>
          <p:spPr>
            <a:xfrm>
              <a:off x="3208396" y="4276884"/>
              <a:ext cx="2727300" cy="493800"/>
            </a:xfrm>
            <a:prstGeom prst="roundRect">
              <a:avLst>
                <a:gd name="adj" fmla="val 8333"/>
              </a:avLst>
            </a:prstGeom>
            <a:solidFill>
              <a:srgbClr val="F5F7FC"/>
            </a:solidFill>
            <a:ln w="9525" cap="flat" cmpd="sng">
              <a:solidFill>
                <a:srgbClr val="DCE3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588" name="Google Shape;588;p25"/>
            <p:cNvSpPr txBox="1"/>
            <p:nvPr/>
          </p:nvSpPr>
          <p:spPr>
            <a:xfrm>
              <a:off x="3331839" y="4324890"/>
              <a:ext cx="24804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900"/>
                <a:buFont typeface="Calibri"/>
                <a:buNone/>
              </a:pPr>
              <a:r>
                <a:rPr lang="en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FX Hedge</a:t>
              </a:r>
              <a:endParaRPr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25"/>
            <p:cNvSpPr txBox="1"/>
            <p:nvPr/>
          </p:nvSpPr>
          <p:spPr>
            <a:xfrm>
              <a:off x="3331839" y="4496340"/>
              <a:ext cx="24804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700"/>
                <a:buFont typeface="Calibri"/>
                <a:buNone/>
              </a:pPr>
              <a:r>
                <a:rPr lang="en" sz="12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Lock forward cover for importers (Lupin, Aurobindo, Dr. Reddy)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25"/>
            <p:cNvSpPr/>
            <p:nvPr/>
          </p:nvSpPr>
          <p:spPr>
            <a:xfrm>
              <a:off x="6141333" y="4276884"/>
              <a:ext cx="2727300" cy="493800"/>
            </a:xfrm>
            <a:prstGeom prst="roundRect">
              <a:avLst>
                <a:gd name="adj" fmla="val 8333"/>
              </a:avLst>
            </a:prstGeom>
            <a:solidFill>
              <a:srgbClr val="F5F7FC"/>
            </a:solidFill>
            <a:ln w="9525" cap="flat" cmpd="sng">
              <a:solidFill>
                <a:srgbClr val="DCE3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591" name="Google Shape;591;p25"/>
            <p:cNvSpPr txBox="1"/>
            <p:nvPr/>
          </p:nvSpPr>
          <p:spPr>
            <a:xfrm>
              <a:off x="6264777" y="4324890"/>
              <a:ext cx="24804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900"/>
                <a:buFont typeface="Calibri"/>
                <a:buNone/>
              </a:pPr>
              <a:r>
                <a:rPr lang="en" b="1" i="0" u="none" strike="noStrike" cap="none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Rate Hedge</a:t>
              </a:r>
              <a:endParaRPr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25"/>
            <p:cNvSpPr txBox="1"/>
            <p:nvPr/>
          </p:nvSpPr>
          <p:spPr>
            <a:xfrm>
              <a:off x="6264777" y="4496340"/>
              <a:ext cx="24804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700"/>
                <a:buFont typeface="Calibri"/>
                <a:buNone/>
              </a:pPr>
              <a:r>
                <a:rPr lang="en" sz="1200" b="0" i="0" u="none" strike="noStrike" cap="non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Interest-rate swap for any floating-rate debt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7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3725"/>
            <a:ext cx="8839200" cy="42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44500"/>
            <a:ext cx="8839201" cy="681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1046275"/>
            <a:ext cx="7849503" cy="4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1778647"/>
            <a:ext cx="3904890" cy="321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2684" y="1962375"/>
            <a:ext cx="3664318" cy="4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9497" y="2405849"/>
            <a:ext cx="3050150" cy="23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87840" y="1778647"/>
            <a:ext cx="4070613" cy="321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73450" y="2036875"/>
            <a:ext cx="4550675" cy="5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72000" y="2497750"/>
            <a:ext cx="3286754" cy="2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1845</Words>
  <Application>Microsoft Office PowerPoint</Application>
  <PresentationFormat>On-screen Show (16:9)</PresentationFormat>
  <Paragraphs>465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Georgia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a.saini2002@gmail.com</cp:lastModifiedBy>
  <cp:revision>3</cp:revision>
  <dcterms:modified xsi:type="dcterms:W3CDTF">2026-09-20T09:10:38Z</dcterms:modified>
</cp:coreProperties>
</file>